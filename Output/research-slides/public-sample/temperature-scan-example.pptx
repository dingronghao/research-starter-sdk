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eadfb8a46e48b7" /><Relationship Type="http://schemas.openxmlformats.org/officeDocument/2006/relationships/extended-properties" Target="/docProps/app.xml" Id="R53795526de3748d3" /><Relationship Type="http://schemas.openxmlformats.org/officeDocument/2006/relationships/officeDocument" Target="/ppt/presentation.xml" Id="Ra0cafde41ff046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4ecc9aef6a4ce5"/>
  </p:sldMasterIdLst>
  <p:notesMasterIdLst>
    <p:notesMasterId xmlns:r="http://schemas.openxmlformats.org/officeDocument/2006/relationships" r:id="R52db68a931a74268"/>
  </p:notesMasterIdLst>
  <p:sldIdLst>
    <p:sldId xmlns:r="http://schemas.openxmlformats.org/officeDocument/2006/relationships" id="256" r:id="R362963d2b438403f"/>
    <p:sldId xmlns:r="http://schemas.openxmlformats.org/officeDocument/2006/relationships" id="257" r:id="Rcb7fe724793d4a60"/>
    <p:sldId xmlns:r="http://schemas.openxmlformats.org/officeDocument/2006/relationships" id="258" r:id="R65098c6969d14698"/>
    <p:sldId xmlns:r="http://schemas.openxmlformats.org/officeDocument/2006/relationships" id="259" r:id="Rd879e20632444a4f"/>
    <p:sldId xmlns:r="http://schemas.openxmlformats.org/officeDocument/2006/relationships" id="260" r:id="Rf07968381e114d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4e21d07a064657" /><Relationship Type="http://schemas.openxmlformats.org/officeDocument/2006/relationships/slideMaster" Target="/ppt/slideMasters/slideMaster1.xml" Id="R344ecc9aef6a4ce5" /><Relationship Type="http://schemas.openxmlformats.org/officeDocument/2006/relationships/notesMaster" Target="/ppt/notesMasters/notesMaster1.xml" Id="R52db68a931a74268" /><Relationship Type="http://schemas.openxmlformats.org/officeDocument/2006/relationships/presProps" Target="/ppt/presProps.xml" Id="Rc679dfe905b84ddb" /><Relationship Type="http://schemas.openxmlformats.org/officeDocument/2006/relationships/tableStyles" Target="/ppt/tableStyles.xml" Id="R14626692190c4ead" /><Relationship Type="http://schemas.openxmlformats.org/officeDocument/2006/relationships/slide" Target="/ppt/slides/slide1.xml" Id="R362963d2b438403f" /><Relationship Type="http://schemas.openxmlformats.org/officeDocument/2006/relationships/slide" Target="/ppt/slides/slide2.xml" Id="Rcb7fe724793d4a60" /><Relationship Type="http://schemas.openxmlformats.org/officeDocument/2006/relationships/slide" Target="/ppt/slides/slide3.xml" Id="R65098c6969d14698" /><Relationship Type="http://schemas.openxmlformats.org/officeDocument/2006/relationships/slide" Target="/ppt/slides/slide4.xml" Id="Rd879e20632444a4f" /><Relationship Type="http://schemas.openxmlformats.org/officeDocument/2006/relationships/slide" Target="/ppt/slides/slide5.xml" Id="Rf07968381e114d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2b1f37671644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0fe40b998c4a01" /><Relationship Type="http://schemas.openxmlformats.org/officeDocument/2006/relationships/notesMaster" Target="/ppt/notesMasters/notesMaster1.xml" Id="Ra95266fd4d0843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508882bcab40f9" /><Relationship Type="http://schemas.openxmlformats.org/officeDocument/2006/relationships/notesMaster" Target="/ppt/notesMasters/notesMaster1.xml" Id="Ra94fad59774646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426ec349424105" /><Relationship Type="http://schemas.openxmlformats.org/officeDocument/2006/relationships/notesMaster" Target="/ppt/notesMasters/notesMaster1.xml" Id="Rea41d75a9db84f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85cb8e38494d38" /><Relationship Type="http://schemas.openxmlformats.org/officeDocument/2006/relationships/notesMaster" Target="/ppt/notesMasters/notesMaster1.xml" Id="R5f695a5932aa4a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c2611d79764a24" /><Relationship Type="http://schemas.openxmlformats.org/officeDocument/2006/relationships/notesMaster" Target="/ppt/notesMasters/notesMaster1.xml" Id="Ra330a34b931a4a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values are synthetic and intended only for testing Research Starter.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normalization and uncertainty values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chart. Source: bundled temperature_scan.csv. Values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from the synthetic CSV. No real experimental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conclusion deliberately separates observation from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7c1123461742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fbe0a30c6f4d19" /><Relationship Type="http://schemas.openxmlformats.org/officeDocument/2006/relationships/slideLayout" Target="/ppt/slideLayouts/slideLayout1.xml" Id="Rd43ae92e70364f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3ae92e70364f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2932e42764c40" /><Relationship Type="http://schemas.openxmlformats.org/officeDocument/2006/relationships/notesSlide" Target="/ppt/notesSlides/notesSlide1.xml" Id="R5db68886b5e94d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8f186811e42c3" /><Relationship Type="http://schemas.openxmlformats.org/officeDocument/2006/relationships/notesSlide" Target="/ppt/notesSlides/notesSlide2.xml" Id="Re46e3e54150b4b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2d29753da47bd" /><Relationship Type="http://schemas.openxmlformats.org/officeDocument/2006/relationships/chart" Target="/ppt/slides/charts/chart1.xml" Id="Rd62427cbb8be4dea" /><Relationship Type="http://schemas.openxmlformats.org/officeDocument/2006/relationships/notesSlide" Target="/ppt/notesSlides/notesSlide3.xml" Id="R8d89124cbc8b45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177ce2c224871" /><Relationship Type="http://schemas.openxmlformats.org/officeDocument/2006/relationships/notesSlide" Target="/ppt/notesSlides/notesSlide4.xml" Id="R60564861d69143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3636e49c54cab" /><Relationship Type="http://schemas.openxmlformats.org/officeDocument/2006/relationships/notesSlide" Target="/ppt/notesSlides/notesSlide5.xml" Id="R7361de57a1e249a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归一化峰宽</c:v>
          </c:tx>
          <c:spPr>
            <a:ln xmlns:a="http://schemas.openxmlformats.org/drawingml/2006/main" w="28575">
              <a:solidFill>
                <a:srgbClr val="276B59"/>
              </a:solidFill>
            </a:ln>
          </c:spPr>
          <c:marker>
            <c:symbol val="none"/>
          </c:marker>
          <c:cat>
            <c:numRef>
              <c:f>'Chart Data'!$A$2:$A$10</c:f>
              <c:numCache>
                <c:formatCode>General</c:formatCode>
                <c:ptCount val="9"/>
                <c:pt idx="0">
                  <c:v>100</c:v>
                </c:pt>
                <c:pt idx="1">
                  <c:v>125</c:v>
                </c:pt>
                <c:pt idx="2">
                  <c:v>150</c:v>
                </c:pt>
                <c:pt idx="3">
                  <c:v>175</c:v>
                </c:pt>
                <c:pt idx="4">
                  <c:v>200</c:v>
                </c:pt>
                <c:pt idx="5">
                  <c:v>225</c:v>
                </c:pt>
                <c:pt idx="6">
                  <c:v>250</c:v>
                </c:pt>
                <c:pt idx="7">
                  <c:v>275</c:v>
                </c:pt>
                <c:pt idx="8">
                  <c:v>300</c:v>
                </c:pt>
              </c:numCache>
            </c:num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1</c:v>
                </c:pt>
                <c:pt idx="1">
                  <c:v>0.96</c:v>
                </c:pt>
                <c:pt idx="2">
                  <c:v>0.91</c:v>
                </c:pt>
                <c:pt idx="3">
                  <c:v>0.86</c:v>
                </c:pt>
                <c:pt idx="4">
                  <c:v>0.8</c:v>
                </c:pt>
                <c:pt idx="5">
                  <c:v>0.75</c:v>
                </c:pt>
                <c:pt idx="6">
                  <c:v>0.7</c:v>
                </c:pt>
                <c:pt idx="7">
                  <c:v>0.66</c:v>
                </c:pt>
                <c:pt idx="8">
                  <c:v>0.62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96801-DEFB-4E65-B20F-E0B9F4CB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2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22A"/>
                </a:solidFill>
                <a:latin typeface="Arial"/>
                <a:ea typeface="Arial"/>
                <a:cs typeface="Arial"/>
              </a:rPr>
              <a:t>温度扫描与归一化峰宽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C6EC8-1D72-4518-B66A-CC28F018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76B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6B59"/>
                </a:solidFill>
                <a:latin typeface="Arial"/>
                <a:ea typeface="Arial"/>
                <a:cs typeface="Arial"/>
              </a:rPr>
              <a:t>公开合成案例 | Research Slides 完整流程测试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89B43-1F09-4949-88A7-30B28E23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6E"/>
                </a:solidFill>
                <a:latin typeface="Arial"/>
                <a:ea typeface="Arial"/>
                <a:cs typeface="Arial"/>
              </a:rPr>
              <a:t>100-300 K · 9 个温度点 · 每点 10 s 积分</a:t>
            </a:r>
          </a:p>
        </p:txBody>
      </p:sp>
    </p:spTree>
    <p:extLst>
      <p:ext uri="{BB962C8B-B14F-4D97-AF65-F5344CB8AC3E}">
        <p14:creationId xmlns:p14="http://schemas.microsoft.com/office/powerpoint/2010/main" val="21337587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EDAFE-0B57-4B7F-BCF8-7170CC7E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2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22A"/>
                </a:solidFill>
                <a:latin typeface="Arial"/>
                <a:ea typeface="Arial"/>
                <a:cs typeface="Arial"/>
              </a:rPr>
              <a:t>问题与测量定义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24CFE-61B4-475B-9381-DF0BCE5C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76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76B59"/>
                </a:solidFill>
                <a:latin typeface="Arial"/>
                <a:ea typeface="Arial"/>
                <a:cs typeface="Arial"/>
              </a:rPr>
              <a:t>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22C01-3F11-4A3F-9A29-A76CFD16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1443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1443E"/>
                </a:solidFill>
                <a:latin typeface="Arial"/>
                <a:ea typeface="Arial"/>
                <a:cs typeface="Arial"/>
              </a:rPr>
              <a:t>升温过程中，归一化峰宽是否呈稳定的单调变化？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C09C0-C2E7-47FA-B455-B70AE6A2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1443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1443E"/>
                </a:solidFill>
                <a:latin typeface="Arial"/>
                <a:ea typeface="Arial"/>
                <a:cs typeface="Arial"/>
              </a:rPr>
              <a:t>定义</a:t>
            </a:r>
          </a:p>
          <a:p xmlns:a="http://schemas.openxmlformats.org/drawingml/2006/main">
            <a:pPr>
              <a:defRPr sz="1575" b="0">
                <a:solidFill>
                  <a:srgbClr val="31443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1443E"/>
                </a:solidFill>
                <a:latin typeface="Arial"/>
                <a:ea typeface="Arial"/>
                <a:cs typeface="Arial"/>
              </a:rPr>
              <a:t>峰宽以 100 K 的拟合结果归一化。每个温度点采用相同的 10 s 积分时间，并报告合成标准差。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6D53D-9A9D-4163-BA6B-899283B7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81375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1443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1443E"/>
                </a:solidFill>
                <a:latin typeface="Arial"/>
                <a:ea typeface="Arial"/>
                <a:cs typeface="Arial"/>
              </a:rPr>
              <a:t>解释边界</a:t>
            </a:r>
          </a:p>
          <a:p xmlns:a="http://schemas.openxmlformats.org/drawingml/2006/main">
            <a:pPr>
              <a:defRPr sz="1575" b="0">
                <a:solidFill>
                  <a:srgbClr val="31443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1443E"/>
                </a:solidFill>
                <a:latin typeface="Arial"/>
                <a:ea typeface="Arial"/>
                <a:cs typeface="Arial"/>
              </a:rPr>
              <a:t>单调趋势是观察结果。散射、展宽机制或仪器漂移仍需额外测量区分。</a:t>
            </a:r>
          </a:p>
        </p:txBody>
      </p:sp>
    </p:spTree>
    <p:extLst>
      <p:ext uri="{BB962C8B-B14F-4D97-AF65-F5344CB8AC3E}">
        <p14:creationId xmlns:p14="http://schemas.microsoft.com/office/powerpoint/2010/main" val="1534755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BDE05-06E0-4F6C-A0C8-6258A2EA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2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22A"/>
                </a:solidFill>
                <a:latin typeface="Arial"/>
                <a:ea typeface="Arial"/>
                <a:cs typeface="Arial"/>
              </a:rPr>
              <a:t>峰宽随温度单调下降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876300" y="1381125"/>
          <a:ext xmlns:a="http://schemas.openxmlformats.org/drawingml/2006/main" cx="1028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2427cbb8be4dea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7881D-7BFD-4458-89C7-1C3641D7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619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5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6E"/>
                </a:solidFill>
                <a:latin typeface="Arial"/>
                <a:ea typeface="Arial"/>
                <a:cs typeface="Arial"/>
              </a:rPr>
              <a:t>温度 (K)</a:t>
            </a:r>
          </a:p>
        </p:txBody>
      </p:sp>
    </p:spTree>
    <p:extLst>
      <p:ext uri="{BB962C8B-B14F-4D97-AF65-F5344CB8AC3E}">
        <p14:creationId xmlns:p14="http://schemas.microsoft.com/office/powerpoint/2010/main" val="15313633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7B367-1196-4F28-A53A-602161CA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2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22A"/>
                </a:solidFill>
                <a:latin typeface="Arial"/>
                <a:ea typeface="Arial"/>
                <a:cs typeface="Arial"/>
              </a:rPr>
              <a:t>变化幅度与不确定性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20D12-FF68-496D-BCF7-AEC44E67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76B59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76B59"/>
                </a:solidFill>
                <a:latin typeface="Arial"/>
                <a:ea typeface="Arial"/>
                <a:cs typeface="Arial"/>
              </a:rPr>
              <a:t>38%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F36B7-9628-4DC0-A30E-EB96BE52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289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144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443E"/>
                </a:solidFill>
                <a:latin typeface="Arial"/>
                <a:ea typeface="Arial"/>
                <a:cs typeface="Arial"/>
              </a:rPr>
              <a:t>100 K 到 300 K 的总降幅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C328F-2C1F-4BD6-9EC3-370E0EAD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2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2A"/>
                </a:solidFill>
                <a:latin typeface="Arial"/>
                <a:ea typeface="Arial"/>
                <a:cs typeface="Arial"/>
              </a:rPr>
              <a:t>相邻区间降幅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4EB3B-CE8A-4459-8950-A0D9A079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56B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C56B32"/>
                </a:solidFill>
                <a:latin typeface="Arial"/>
                <a:ea typeface="Arial"/>
                <a:cs typeface="Arial"/>
              </a:rPr>
              <a:t>3.9%-6.6%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2B446-80EE-4A72-B184-8916CFDD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52875"/>
            <a:ext cx="10096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43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443E"/>
                </a:solidFill>
                <a:latin typeface="Arial"/>
                <a:ea typeface="Arial"/>
                <a:cs typeface="Arial"/>
              </a:rPr>
              <a:t>趋势连续，但当前数据不足以判定具体物理机制。估计标准差从 0.030 降至 0.019，误差模型仍需真实重复实验验证。</a:t>
            </a:r>
          </a:p>
        </p:txBody>
      </p:sp>
    </p:spTree>
    <p:extLst>
      <p:ext uri="{BB962C8B-B14F-4D97-AF65-F5344CB8AC3E}">
        <p14:creationId xmlns:p14="http://schemas.microsoft.com/office/powerpoint/2010/main" val="646394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CED50-7C6E-4B36-A686-F6952B1C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2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22A"/>
                </a:solidFill>
                <a:latin typeface="Arial"/>
                <a:ea typeface="Arial"/>
                <a:cs typeface="Arial"/>
              </a:rPr>
              <a:t>局限与下一步测量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2BE49-2277-42D8-A47A-DE9FD593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56B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56B32"/>
                </a:solidFill>
                <a:latin typeface="Arial"/>
                <a:ea typeface="Arial"/>
                <a:cs typeface="Arial"/>
              </a:rPr>
              <a:t>当前局限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97585-4BF6-4E03-A16E-5446AB28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4572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44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443E"/>
                </a:solidFill>
                <a:latin typeface="Arial"/>
                <a:ea typeface="Arial"/>
                <a:cs typeface="Arial"/>
              </a:rPr>
              <a:t>单次合成扫描无法排除温度滞后、拟合模型偏差和仪器漂移。归一化还会传播 100 K 参考点的不确定性。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99FDB-F77D-44EA-AAB4-055ED86B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4763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76B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76B59"/>
                </a:solidFill>
                <a:latin typeface="Arial"/>
                <a:ea typeface="Arial"/>
                <a:cs typeface="Arial"/>
              </a:rPr>
              <a:t>建议验证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94F94-6907-49FF-87D4-C0DDF2D7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95500"/>
            <a:ext cx="4572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44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443E"/>
                </a:solidFill>
                <a:latin typeface="Arial"/>
                <a:ea typeface="Arial"/>
                <a:cs typeface="Arial"/>
              </a:rPr>
              <a:t>执行升温与降温双向扫描，检验滞后。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144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443E"/>
                </a:solidFill>
                <a:latin typeface="Arial"/>
                <a:ea typeface="Arial"/>
                <a:cs typeface="Arial"/>
              </a:rPr>
              <a:t>加入稳定参考样品，区分样品变化与仪器漂移。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61B4A-C0DE-4738-8586-AADAF05F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2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2A"/>
                </a:solidFill>
                <a:latin typeface="Arial"/>
                <a:ea typeface="Arial"/>
                <a:cs typeface="Arial"/>
              </a:rPr>
              <a:t>结论：合成数据支持“峰宽随温度下降”的描述，但不支持未经验证的机制归因。</a:t>
            </a:r>
          </a:p>
        </p:txBody>
      </p:sp>
    </p:spTree>
    <p:extLst>
      <p:ext uri="{BB962C8B-B14F-4D97-AF65-F5344CB8AC3E}">
        <p14:creationId xmlns:p14="http://schemas.microsoft.com/office/powerpoint/2010/main" val="1121187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2026-09-14T04:28:43.2360000Z</dcterms:created>
  <dcterms:modified xsi:type="dcterms:W3CDTF">2026-09-14T04:28:43.2370000Z</dcterms:modified>
</coreProperties>
</file>