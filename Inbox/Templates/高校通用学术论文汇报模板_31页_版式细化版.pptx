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2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4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df1bdc90044a5" /><Relationship Type="http://schemas.openxmlformats.org/officeDocument/2006/relationships/extended-properties" Target="/docProps/app.xml" Id="R56607ccc31d94510" /><Relationship Type="http://schemas.openxmlformats.org/officeDocument/2006/relationships/officeDocument" Target="/ppt/presentation.xml" Id="Rcbb1ecfd001e49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efae26bbb649f5"/>
  </p:sldMasterIdLst>
  <p:notesMasterIdLst>
    <p:notesMasterId xmlns:r="http://schemas.openxmlformats.org/officeDocument/2006/relationships" r:id="R31df1e74a8894bd3"/>
  </p:notesMasterIdLst>
  <p:sldIdLst>
    <p:sldId xmlns:r="http://schemas.openxmlformats.org/officeDocument/2006/relationships" id="256" r:id="R29a0fdce7a6c4392"/>
    <p:sldId xmlns:r="http://schemas.openxmlformats.org/officeDocument/2006/relationships" id="257" r:id="R283b889e71314c50"/>
    <p:sldId xmlns:r="http://schemas.openxmlformats.org/officeDocument/2006/relationships" id="258" r:id="R4576d94769324690"/>
    <p:sldId xmlns:r="http://schemas.openxmlformats.org/officeDocument/2006/relationships" id="259" r:id="Rdef1d0f44b78443a"/>
    <p:sldId xmlns:r="http://schemas.openxmlformats.org/officeDocument/2006/relationships" id="260" r:id="Rf04c440fe8da4cd8"/>
    <p:sldId xmlns:r="http://schemas.openxmlformats.org/officeDocument/2006/relationships" id="261" r:id="R5736e524d50d4a4e"/>
    <p:sldId xmlns:r="http://schemas.openxmlformats.org/officeDocument/2006/relationships" id="262" r:id="Rabeafed621e54a99"/>
    <p:sldId xmlns:r="http://schemas.openxmlformats.org/officeDocument/2006/relationships" id="263" r:id="R7e9fa8bb3ec749cf"/>
    <p:sldId xmlns:r="http://schemas.openxmlformats.org/officeDocument/2006/relationships" id="264" r:id="Ra5ecea9cb2dc483c"/>
    <p:sldId xmlns:r="http://schemas.openxmlformats.org/officeDocument/2006/relationships" id="265" r:id="Rd2b14fd83e864e76"/>
    <p:sldId xmlns:r="http://schemas.openxmlformats.org/officeDocument/2006/relationships" id="266" r:id="R787f124ee0134e19"/>
    <p:sldId xmlns:r="http://schemas.openxmlformats.org/officeDocument/2006/relationships" id="267" r:id="R2d03f11c79e84b45"/>
    <p:sldId xmlns:r="http://schemas.openxmlformats.org/officeDocument/2006/relationships" id="268" r:id="R3441e345fcc44d3b"/>
    <p:sldId xmlns:r="http://schemas.openxmlformats.org/officeDocument/2006/relationships" id="269" r:id="R674b0d5d005644a3"/>
    <p:sldId xmlns:r="http://schemas.openxmlformats.org/officeDocument/2006/relationships" id="270" r:id="R41535814a36445c4"/>
    <p:sldId xmlns:r="http://schemas.openxmlformats.org/officeDocument/2006/relationships" id="271" r:id="R686207db96924139"/>
    <p:sldId xmlns:r="http://schemas.openxmlformats.org/officeDocument/2006/relationships" id="272" r:id="Rccaae217cad4499d"/>
    <p:sldId xmlns:r="http://schemas.openxmlformats.org/officeDocument/2006/relationships" id="273" r:id="Rb43fd3fc1bf84afb"/>
    <p:sldId xmlns:r="http://schemas.openxmlformats.org/officeDocument/2006/relationships" id="274" r:id="R1e401c4be8574f93"/>
    <p:sldId xmlns:r="http://schemas.openxmlformats.org/officeDocument/2006/relationships" id="275" r:id="R61b649c3ba834258"/>
    <p:sldId xmlns:r="http://schemas.openxmlformats.org/officeDocument/2006/relationships" id="276" r:id="Rd49124351825414d"/>
    <p:sldId xmlns:r="http://schemas.openxmlformats.org/officeDocument/2006/relationships" id="277" r:id="R3c620fae01084903"/>
    <p:sldId xmlns:r="http://schemas.openxmlformats.org/officeDocument/2006/relationships" id="278" r:id="R2464048c4264446f"/>
    <p:sldId xmlns:r="http://schemas.openxmlformats.org/officeDocument/2006/relationships" id="279" r:id="Rc1845855dff54a6d"/>
    <p:sldId xmlns:r="http://schemas.openxmlformats.org/officeDocument/2006/relationships" id="280" r:id="Rbcb25fd92f504d3e"/>
    <p:sldId xmlns:r="http://schemas.openxmlformats.org/officeDocument/2006/relationships" id="281" r:id="Rb15f51f604e846a4"/>
    <p:sldId xmlns:r="http://schemas.openxmlformats.org/officeDocument/2006/relationships" id="282" r:id="R7601da0f901d45b1"/>
    <p:sldId xmlns:r="http://schemas.openxmlformats.org/officeDocument/2006/relationships" id="283" r:id="Re6dbcb95b54b4eba"/>
    <p:sldId xmlns:r="http://schemas.openxmlformats.org/officeDocument/2006/relationships" id="284" r:id="R83763557840d44ba"/>
    <p:sldId xmlns:r="http://schemas.openxmlformats.org/officeDocument/2006/relationships" id="285" r:id="R702ba14cd91a4b5d"/>
    <p:sldId xmlns:r="http://schemas.openxmlformats.org/officeDocument/2006/relationships" id="286" r:id="R6ac3e1a47d864d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4c9d00ca84f21" /><Relationship Type="http://schemas.openxmlformats.org/officeDocument/2006/relationships/slideMaster" Target="/ppt/slideMasters/slideMaster1.xml" Id="Rfeefae26bbb649f5" /><Relationship Type="http://schemas.openxmlformats.org/officeDocument/2006/relationships/notesMaster" Target="/ppt/notesMasters/notesMaster1.xml" Id="R31df1e74a8894bd3" /><Relationship Type="http://schemas.openxmlformats.org/officeDocument/2006/relationships/presProps" Target="/ppt/presProps.xml" Id="R22bd90bbf627495b" /><Relationship Type="http://schemas.openxmlformats.org/officeDocument/2006/relationships/viewProps" Target="/ppt/viewProps.xml" Id="R5770804dae3b4588" /><Relationship Type="http://schemas.openxmlformats.org/officeDocument/2006/relationships/tableStyles" Target="/ppt/tableStyles.xml" Id="Rd16f8d8e12424cbd" /><Relationship Type="http://schemas.openxmlformats.org/officeDocument/2006/relationships/slide" Target="/ppt/slides/slide1.xml" Id="R29a0fdce7a6c4392" /><Relationship Type="http://schemas.openxmlformats.org/officeDocument/2006/relationships/slide" Target="/ppt/slides/slide2.xml" Id="R283b889e71314c50" /><Relationship Type="http://schemas.openxmlformats.org/officeDocument/2006/relationships/slide" Target="/ppt/slides/slide3.xml" Id="R4576d94769324690" /><Relationship Type="http://schemas.openxmlformats.org/officeDocument/2006/relationships/slide" Target="/ppt/slides/slide4.xml" Id="Rdef1d0f44b78443a" /><Relationship Type="http://schemas.openxmlformats.org/officeDocument/2006/relationships/slide" Target="/ppt/slides/slide5.xml" Id="Rf04c440fe8da4cd8" /><Relationship Type="http://schemas.openxmlformats.org/officeDocument/2006/relationships/slide" Target="/ppt/slides/slide6.xml" Id="R5736e524d50d4a4e" /><Relationship Type="http://schemas.openxmlformats.org/officeDocument/2006/relationships/slide" Target="/ppt/slides/slide7.xml" Id="Rabeafed621e54a99" /><Relationship Type="http://schemas.openxmlformats.org/officeDocument/2006/relationships/slide" Target="/ppt/slides/slide8.xml" Id="R7e9fa8bb3ec749cf" /><Relationship Type="http://schemas.openxmlformats.org/officeDocument/2006/relationships/slide" Target="/ppt/slides/slide9.xml" Id="Ra5ecea9cb2dc483c" /><Relationship Type="http://schemas.openxmlformats.org/officeDocument/2006/relationships/slide" Target="/ppt/slides/slide10.xml" Id="Rd2b14fd83e864e76" /><Relationship Type="http://schemas.openxmlformats.org/officeDocument/2006/relationships/slide" Target="/ppt/slides/slide11.xml" Id="R787f124ee0134e19" /><Relationship Type="http://schemas.openxmlformats.org/officeDocument/2006/relationships/slide" Target="/ppt/slides/slide12.xml" Id="R2d03f11c79e84b45" /><Relationship Type="http://schemas.openxmlformats.org/officeDocument/2006/relationships/slide" Target="/ppt/slides/slide13.xml" Id="R3441e345fcc44d3b" /><Relationship Type="http://schemas.openxmlformats.org/officeDocument/2006/relationships/slide" Target="/ppt/slides/slide14.xml" Id="R674b0d5d005644a3" /><Relationship Type="http://schemas.openxmlformats.org/officeDocument/2006/relationships/slide" Target="/ppt/slides/slide15.xml" Id="R41535814a36445c4" /><Relationship Type="http://schemas.openxmlformats.org/officeDocument/2006/relationships/slide" Target="/ppt/slides/slide16.xml" Id="R686207db96924139" /><Relationship Type="http://schemas.openxmlformats.org/officeDocument/2006/relationships/slide" Target="/ppt/slides/slide17.xml" Id="Rccaae217cad4499d" /><Relationship Type="http://schemas.openxmlformats.org/officeDocument/2006/relationships/slide" Target="/ppt/slides/slide18.xml" Id="Rb43fd3fc1bf84afb" /><Relationship Type="http://schemas.openxmlformats.org/officeDocument/2006/relationships/slide" Target="/ppt/slides/slide19.xml" Id="R1e401c4be8574f93" /><Relationship Type="http://schemas.openxmlformats.org/officeDocument/2006/relationships/slide" Target="/ppt/slides/slide20.xml" Id="R61b649c3ba834258" /><Relationship Type="http://schemas.openxmlformats.org/officeDocument/2006/relationships/slide" Target="/ppt/slides/slide21.xml" Id="Rd49124351825414d" /><Relationship Type="http://schemas.openxmlformats.org/officeDocument/2006/relationships/slide" Target="/ppt/slides/slide22.xml" Id="R3c620fae01084903" /><Relationship Type="http://schemas.openxmlformats.org/officeDocument/2006/relationships/slide" Target="/ppt/slides/slide23.xml" Id="R2464048c4264446f" /><Relationship Type="http://schemas.openxmlformats.org/officeDocument/2006/relationships/slide" Target="/ppt/slides/slide24.xml" Id="Rc1845855dff54a6d" /><Relationship Type="http://schemas.openxmlformats.org/officeDocument/2006/relationships/slide" Target="/ppt/slides/slide25.xml" Id="Rbcb25fd92f504d3e" /><Relationship Type="http://schemas.openxmlformats.org/officeDocument/2006/relationships/slide" Target="/ppt/slides/slide26.xml" Id="Rb15f51f604e846a4" /><Relationship Type="http://schemas.openxmlformats.org/officeDocument/2006/relationships/slide" Target="/ppt/slides/slide27.xml" Id="R7601da0f901d45b1" /><Relationship Type="http://schemas.openxmlformats.org/officeDocument/2006/relationships/slide" Target="/ppt/slides/slide28.xml" Id="Re6dbcb95b54b4eba" /><Relationship Type="http://schemas.openxmlformats.org/officeDocument/2006/relationships/slide" Target="/ppt/slides/slide29.xml" Id="R83763557840d44ba" /><Relationship Type="http://schemas.openxmlformats.org/officeDocument/2006/relationships/slide" Target="/ppt/slides/slide30.xml" Id="R702ba14cd91a4b5d" /><Relationship Type="http://schemas.openxmlformats.org/officeDocument/2006/relationships/slide" Target="/ppt/slides/slide31.xml" Id="R6ac3e1a47d864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28b4ebe7342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31b819c4aa46b3" /><Relationship Type="http://schemas.openxmlformats.org/officeDocument/2006/relationships/notesMaster" Target="/ppt/notesMasters/notesMaster1.xml" Id="Rdf432fe6fd574b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e5db466b8f423d" /><Relationship Type="http://schemas.openxmlformats.org/officeDocument/2006/relationships/notesMaster" Target="/ppt/notesMasters/notesMaster1.xml" Id="R5e08b5b683b743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810f1e4da1466f" /><Relationship Type="http://schemas.openxmlformats.org/officeDocument/2006/relationships/notesMaster" Target="/ppt/notesMasters/notesMaster1.xml" Id="R1f1260c24eaa4f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e4a8add3a342c2" /><Relationship Type="http://schemas.openxmlformats.org/officeDocument/2006/relationships/notesMaster" Target="/ppt/notesMasters/notesMaster1.xml" Id="R70cb09c8af3240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48b76a23564ac9" /><Relationship Type="http://schemas.openxmlformats.org/officeDocument/2006/relationships/notesMaster" Target="/ppt/notesMasters/notesMaster1.xml" Id="R11ab5ba4ec3747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9430e1c5654fab" /><Relationship Type="http://schemas.openxmlformats.org/officeDocument/2006/relationships/notesMaster" Target="/ppt/notesMasters/notesMaster1.xml" Id="Rc36f7cd9b58449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d498b2a0794620" /><Relationship Type="http://schemas.openxmlformats.org/officeDocument/2006/relationships/notesMaster" Target="/ppt/notesMasters/notesMaster1.xml" Id="Radd222defb4c44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8e1d3e52774f66" /><Relationship Type="http://schemas.openxmlformats.org/officeDocument/2006/relationships/notesMaster" Target="/ppt/notesMasters/notesMaster1.xml" Id="Rcc094eca47bc4d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e77c8ab0e24dbc" /><Relationship Type="http://schemas.openxmlformats.org/officeDocument/2006/relationships/notesMaster" Target="/ppt/notesMasters/notesMaster1.xml" Id="R659edb63776843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9dc36e090a4c05" /><Relationship Type="http://schemas.openxmlformats.org/officeDocument/2006/relationships/notesMaster" Target="/ppt/notesMasters/notesMaster1.xml" Id="Rb3362496266846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42c73e58f242da" /><Relationship Type="http://schemas.openxmlformats.org/officeDocument/2006/relationships/notesMaster" Target="/ppt/notesMasters/notesMaster1.xml" Id="R700f8187071c47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224adc2b8c4e53" /><Relationship Type="http://schemas.openxmlformats.org/officeDocument/2006/relationships/notesMaster" Target="/ppt/notesMasters/notesMaster1.xml" Id="R0573edc9e1d74b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547a8d217d489b" /><Relationship Type="http://schemas.openxmlformats.org/officeDocument/2006/relationships/notesMaster" Target="/ppt/notesMasters/notesMaster1.xml" Id="R4ec09a74985647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c0e18621cf4bbc" /><Relationship Type="http://schemas.openxmlformats.org/officeDocument/2006/relationships/notesMaster" Target="/ppt/notesMasters/notesMaster1.xml" Id="R67caa0186e3049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e505039d2545ba" /><Relationship Type="http://schemas.openxmlformats.org/officeDocument/2006/relationships/notesMaster" Target="/ppt/notesMasters/notesMaster1.xml" Id="R78cd7dafaa494d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a8c77ac26743ed" /><Relationship Type="http://schemas.openxmlformats.org/officeDocument/2006/relationships/notesMaster" Target="/ppt/notesMasters/notesMaster1.xml" Id="R595c98712c344c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30feb92bb247eb" /><Relationship Type="http://schemas.openxmlformats.org/officeDocument/2006/relationships/notesMaster" Target="/ppt/notesMasters/notesMaster1.xml" Id="R13a16425f9a44b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73ab57e9204e89" /><Relationship Type="http://schemas.openxmlformats.org/officeDocument/2006/relationships/notesMaster" Target="/ppt/notesMasters/notesMaster1.xml" Id="Rf858bfa6244a4c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5f7b5b9a1d4582" /><Relationship Type="http://schemas.openxmlformats.org/officeDocument/2006/relationships/notesMaster" Target="/ppt/notesMasters/notesMaster1.xml" Id="R01bdd2805be04b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4c8c552ddc484f" /><Relationship Type="http://schemas.openxmlformats.org/officeDocument/2006/relationships/notesMaster" Target="/ppt/notesMasters/notesMaster1.xml" Id="R5ecf21856c5e43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0ff44a9c77436e" /><Relationship Type="http://schemas.openxmlformats.org/officeDocument/2006/relationships/notesMaster" Target="/ppt/notesMasters/notesMaster1.xml" Id="Raa2fa8c2e84747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bb14a4e178048f4" /><Relationship Type="http://schemas.openxmlformats.org/officeDocument/2006/relationships/notesMaster" Target="/ppt/notesMasters/notesMaster1.xml" Id="Rf387e03d7af84f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a54212264974ab4" /><Relationship Type="http://schemas.openxmlformats.org/officeDocument/2006/relationships/notesMaster" Target="/ppt/notesMasters/notesMaster1.xml" Id="Rfc9aa8df63c04d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cd2d878a894252" /><Relationship Type="http://schemas.openxmlformats.org/officeDocument/2006/relationships/notesMaster" Target="/ppt/notesMasters/notesMaster1.xml" Id="R32d2a8d5b31f42f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41da198e4746cc" /><Relationship Type="http://schemas.openxmlformats.org/officeDocument/2006/relationships/notesMaster" Target="/ppt/notesMasters/notesMaster1.xml" Id="R103b2e292c064e7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612d5264a6460c" /><Relationship Type="http://schemas.openxmlformats.org/officeDocument/2006/relationships/notesMaster" Target="/ppt/notesMasters/notesMaster1.xml" Id="R28853e1221b5495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506bd38d1ce40ac" /><Relationship Type="http://schemas.openxmlformats.org/officeDocument/2006/relationships/notesMaster" Target="/ppt/notesMasters/notesMaster1.xml" Id="R960baa2975d740c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0d1dc51ccb54225" /><Relationship Type="http://schemas.openxmlformats.org/officeDocument/2006/relationships/notesMaster" Target="/ppt/notesMasters/notesMaster1.xml" Id="Rbf5cbaa5d43348f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e4291b2028145d9" /><Relationship Type="http://schemas.openxmlformats.org/officeDocument/2006/relationships/notesMaster" Target="/ppt/notesMasters/notesMaster1.xml" Id="R9291e5d72cfe469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3c2c95711ac40b2" /><Relationship Type="http://schemas.openxmlformats.org/officeDocument/2006/relationships/notesMaster" Target="/ppt/notesMasters/notesMaster1.xml" Id="R0bf32b0af6be41b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0cf64f0f12543a6" /><Relationship Type="http://schemas.openxmlformats.org/officeDocument/2006/relationships/notesMaster" Target="/ppt/notesMasters/notesMaster1.xml" Id="Rc4e0e9f8395342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本页数字为示例数据，仅用于展示表格版式，不能用于真实研究结论。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本页图表为示例数据，仅用于展示学术汇报版式。请替换为真实结果，并核对坐标、单位、图例与来源。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本页图表为示例数据，仅用于展示学术汇报版式。请替换为真实结果，并核对坐标、单位、图例与来源。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本页图表为示例数据，仅用于展示学术汇报版式。请替换为真实结果，并核对坐标、单位、图例与来源。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本页图表为示例数据，仅用于展示学术汇报版式。请替换为真实结果，并核对坐标、单位、图例与来源。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本页图表为示例数据，仅用于展示学术汇报版式。请替换为真实结果，并核对坐标、单位、图例与来源。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85cd406c844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f84afa9e84a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dca9befbe4c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c9a442af349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79030523742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0294f8d7346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d4a0ec8f7433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a65f23d48411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c142153554c2e" /><Relationship Type="http://schemas.openxmlformats.org/officeDocument/2006/relationships/image" Target="/ppt/media/image.png" Id="R9eb2322bbc82422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a238a8249469c" /><Relationship Type="http://schemas.openxmlformats.org/officeDocument/2006/relationships/image" Target="/ppt/media/image2.png" Id="R5b4650b2fff2403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9eb2322bbc82422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5b4650b2fff2403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09e33d4cae4074" /><Relationship Type="http://schemas.openxmlformats.org/officeDocument/2006/relationships/slideLayout" Target="/ppt/slideLayouts/slideLayout1.xml" Id="R550ca16970334baa" /><Relationship Type="http://schemas.openxmlformats.org/officeDocument/2006/relationships/slideLayout" Target="/ppt/slideLayouts/slideLayout2.xml" Id="R4907e895885f479b" /><Relationship Type="http://schemas.openxmlformats.org/officeDocument/2006/relationships/slideLayout" Target="/ppt/slideLayouts/slideLayout3.xml" Id="R3cc0dc16f59f49bb" /><Relationship Type="http://schemas.openxmlformats.org/officeDocument/2006/relationships/slideLayout" Target="/ppt/slideLayouts/slideLayout4.xml" Id="R20a389ee764c4ffd" /><Relationship Type="http://schemas.openxmlformats.org/officeDocument/2006/relationships/slideLayout" Target="/ppt/slideLayouts/slideLayout5.xml" Id="R3723ff176cd245f6" /><Relationship Type="http://schemas.openxmlformats.org/officeDocument/2006/relationships/slideLayout" Target="/ppt/slideLayouts/slideLayout6.xml" Id="Rc8b3f6677b694e97" /><Relationship Type="http://schemas.openxmlformats.org/officeDocument/2006/relationships/slideLayout" Target="/ppt/slideLayouts/slideLayout7.xml" Id="Rea390f9903cc4d6c" /><Relationship Type="http://schemas.openxmlformats.org/officeDocument/2006/relationships/slideLayout" Target="/ppt/slideLayouts/slideLayout8.xml" Id="R60c9e81e08f44b41" /><Relationship Type="http://schemas.openxmlformats.org/officeDocument/2006/relationships/slideLayout" Target="/ppt/slideLayouts/slideLayout9.xml" Id="R17e69042d07c4553" /><Relationship Type="http://schemas.openxmlformats.org/officeDocument/2006/relationships/slideLayout" Target="/ppt/slideLayouts/slideLayout10.xml" Id="R3c0c6ee994734ec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0ca16970334baa"/>
    <p:sldLayoutId xmlns:r="http://schemas.openxmlformats.org/officeDocument/2006/relationships" id="2147483650" r:id="R4907e895885f479b"/>
    <p:sldLayoutId xmlns:r="http://schemas.openxmlformats.org/officeDocument/2006/relationships" id="2147483651" r:id="R3cc0dc16f59f49bb"/>
    <p:sldLayoutId xmlns:r="http://schemas.openxmlformats.org/officeDocument/2006/relationships" id="2147483652" r:id="R20a389ee764c4ffd"/>
    <p:sldLayoutId xmlns:r="http://schemas.openxmlformats.org/officeDocument/2006/relationships" id="2147483653" r:id="R3723ff176cd245f6"/>
    <p:sldLayoutId xmlns:r="http://schemas.openxmlformats.org/officeDocument/2006/relationships" id="2147483654" r:id="Rc8b3f6677b694e97"/>
    <p:sldLayoutId xmlns:r="http://schemas.openxmlformats.org/officeDocument/2006/relationships" id="2147483655" r:id="Rea390f9903cc4d6c"/>
    <p:sldLayoutId xmlns:r="http://schemas.openxmlformats.org/officeDocument/2006/relationships" id="2147483656" r:id="R60c9e81e08f44b41"/>
    <p:sldLayoutId xmlns:r="http://schemas.openxmlformats.org/officeDocument/2006/relationships" id="2147483657" r:id="R17e69042d07c4553"/>
    <p:sldLayoutId xmlns:r="http://schemas.openxmlformats.org/officeDocument/2006/relationships" id="2147483658" r:id="R3c0c6ee994734ec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7d14b8f774a02" /><Relationship Type="http://schemas.openxmlformats.org/officeDocument/2006/relationships/notesSlide" Target="/ppt/notesSlides/notesSlide1.xml" Id="Rc5fac34838e24d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3cacc267046f1" /><Relationship Type="http://schemas.openxmlformats.org/officeDocument/2006/relationships/notesSlide" Target="/ppt/notesSlides/notesSlide2.xml" Id="R39abbc010a0042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f9b5cf276f4844" /><Relationship Type="http://schemas.openxmlformats.org/officeDocument/2006/relationships/notesSlide" Target="/ppt/notesSlides/notesSlide3.xml" Id="Re75f6a467fd541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2bdf0dec24b1e" /><Relationship Type="http://schemas.openxmlformats.org/officeDocument/2006/relationships/notesSlide" Target="/ppt/notesSlides/notesSlide4.xml" Id="R4cd6fd9798704e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1d5f59f5e5d41b6" /><Relationship Type="http://schemas.openxmlformats.org/officeDocument/2006/relationships/notesSlide" Target="/ppt/notesSlides/notesSlide5.xml" Id="R555578a5bc864b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838e58195b4a74" /><Relationship Type="http://schemas.openxmlformats.org/officeDocument/2006/relationships/notesSlide" Target="/ppt/notesSlides/notesSlide6.xml" Id="R2ec9428b52e248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0647733cf42b0" /><Relationship Type="http://schemas.openxmlformats.org/officeDocument/2006/relationships/notesSlide" Target="/ppt/notesSlides/notesSlide7.xml" Id="Rcaab99167e3740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d7470d38b46d9" /><Relationship Type="http://schemas.openxmlformats.org/officeDocument/2006/relationships/notesSlide" Target="/ppt/notesSlides/notesSlide8.xml" Id="Rcab9f2dd9e3c48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a21f7c0a9b418a" /><Relationship Type="http://schemas.openxmlformats.org/officeDocument/2006/relationships/notesSlide" Target="/ppt/notesSlides/notesSlide9.xml" Id="R6d63cee84b6747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4e01e0c044aa2" /><Relationship Type="http://schemas.openxmlformats.org/officeDocument/2006/relationships/notesSlide" Target="/ppt/notesSlides/notesSlide10.xml" Id="R57cef9a5b12040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12f6a8446da45ce" /><Relationship Type="http://schemas.openxmlformats.org/officeDocument/2006/relationships/notesSlide" Target="/ppt/notesSlides/notesSlide11.xml" Id="Ree49014b8c4749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a03aa131160406c" /><Relationship Type="http://schemas.openxmlformats.org/officeDocument/2006/relationships/notesSlide" Target="/ppt/notesSlides/notesSlide12.xml" Id="R5aad9393465e4c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aef164ce288496a" /><Relationship Type="http://schemas.openxmlformats.org/officeDocument/2006/relationships/notesSlide" Target="/ppt/notesSlides/notesSlide13.xml" Id="R59eabca417d14c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c3146b956524e40" /><Relationship Type="http://schemas.openxmlformats.org/officeDocument/2006/relationships/notesSlide" Target="/ppt/notesSlides/notesSlide14.xml" Id="R3c57d8b1221f40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21381890d74b44" /><Relationship Type="http://schemas.openxmlformats.org/officeDocument/2006/relationships/notesSlide" Target="/ppt/notesSlides/notesSlide15.xml" Id="R5f947ab9045f4c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23af629276420b" /><Relationship Type="http://schemas.openxmlformats.org/officeDocument/2006/relationships/notesSlide" Target="/ppt/notesSlides/notesSlide16.xml" Id="R55ab45e75c2d44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b1b8999754e8f" /><Relationship Type="http://schemas.openxmlformats.org/officeDocument/2006/relationships/notesSlide" Target="/ppt/notesSlides/notesSlide17.xml" Id="R3a774ea323314e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0e9dfc90243a0" /><Relationship Type="http://schemas.openxmlformats.org/officeDocument/2006/relationships/notesSlide" Target="/ppt/notesSlides/notesSlide18.xml" Id="Red3db4e961a446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27ee880d54509" /><Relationship Type="http://schemas.openxmlformats.org/officeDocument/2006/relationships/notesSlide" Target="/ppt/notesSlides/notesSlide19.xml" Id="R03170775d37d43a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0cd494840b24000" /><Relationship Type="http://schemas.openxmlformats.org/officeDocument/2006/relationships/notesSlide" Target="/ppt/notesSlides/notesSlide20.xml" Id="R39af4549200c4f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801a8ee0504010" /><Relationship Type="http://schemas.openxmlformats.org/officeDocument/2006/relationships/notesSlide" Target="/ppt/notesSlides/notesSlide21.xml" Id="Rbaee0d7fec654d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461ef1ce83143cc" /><Relationship Type="http://schemas.openxmlformats.org/officeDocument/2006/relationships/notesSlide" Target="/ppt/notesSlides/notesSlide22.xml" Id="R8c67703fe11b46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264b3bf7049d4" /><Relationship Type="http://schemas.openxmlformats.org/officeDocument/2006/relationships/chart" Target="/ppt/slides/charts/chart1.xml" Id="R0810041ed4124675" /><Relationship Type="http://schemas.openxmlformats.org/officeDocument/2006/relationships/notesSlide" Target="/ppt/notesSlides/notesSlide23.xml" Id="Rc2fb2fd4b1a6418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3e0675e2a4ff3" /><Relationship Type="http://schemas.openxmlformats.org/officeDocument/2006/relationships/chart" Target="/ppt/slides/charts/chart2.xml" Id="Ra033f824e4c643c8" /><Relationship Type="http://schemas.openxmlformats.org/officeDocument/2006/relationships/notesSlide" Target="/ppt/notesSlides/notesSlide24.xml" Id="Rd828fea6e28440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2c6a7f0354c16" /><Relationship Type="http://schemas.openxmlformats.org/officeDocument/2006/relationships/chart" Target="/ppt/slides/charts/chart3.xml" Id="R0d4bb6fa0d174113" /><Relationship Type="http://schemas.openxmlformats.org/officeDocument/2006/relationships/notesSlide" Target="/ppt/notesSlides/notesSlide25.xml" Id="R61d469fbc97448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e34bcb1684809" /><Relationship Type="http://schemas.openxmlformats.org/officeDocument/2006/relationships/chart" Target="/ppt/slides/charts/chart4.xml" Id="Rbc41326cefca456d" /><Relationship Type="http://schemas.openxmlformats.org/officeDocument/2006/relationships/notesSlide" Target="/ppt/notesSlides/notesSlide26.xml" Id="R88fc2db0867b4fe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81f872b474321" /><Relationship Type="http://schemas.openxmlformats.org/officeDocument/2006/relationships/chart" Target="/ppt/slides/charts/chart5.xml" Id="Re064724b5663494b" /><Relationship Type="http://schemas.openxmlformats.org/officeDocument/2006/relationships/chart" Target="/ppt/slides/charts/chart6.xml" Id="R32a602479b114443" /><Relationship Type="http://schemas.openxmlformats.org/officeDocument/2006/relationships/notesSlide" Target="/ppt/notesSlides/notesSlide27.xml" Id="R1428dc265ae048c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332df62ec4ad5" /><Relationship Type="http://schemas.openxmlformats.org/officeDocument/2006/relationships/notesSlide" Target="/ppt/notesSlides/notesSlide28.xml" Id="R4a6973b230b840e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36818bdb9504a37" /><Relationship Type="http://schemas.openxmlformats.org/officeDocument/2006/relationships/notesSlide" Target="/ppt/notesSlides/notesSlide29.xml" Id="R3fd34f9378c7439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9c0b7e3b04c0b" /><Relationship Type="http://schemas.openxmlformats.org/officeDocument/2006/relationships/notesSlide" Target="/ppt/notesSlides/notesSlide30.xml" Id="R702b45f31850461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c9199c4574e36" /><Relationship Type="http://schemas.openxmlformats.org/officeDocument/2006/relationships/notesSlide" Target="/ppt/notesSlides/notesSlide31.xml" Id="Re5c45f05257d457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示例结果图｜请替换数据与标题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估计值</c:v>
          </c:tx>
          <c:spPr>
            <a:solidFill xmlns:a="http://schemas.openxmlformats.org/drawingml/2006/main">
              <a:srgbClr val="123F67"/>
            </a:solidFill>
          </c:spPr>
          <c:cat>
            <c:strRef>
              <c:f>'Chart Data'!$A$2:$A$5</c:f>
              <c:strCache>
                <c:ptCount val="4"/>
                <c:pt idx="0">
                  <c:v>组别 A</c:v>
                </c:pt>
                <c:pt idx="1">
                  <c:v>组别 B</c:v>
                </c:pt>
                <c:pt idx="2">
                  <c:v>组别 C</c:v>
                </c:pt>
                <c:pt idx="3">
                  <c:v>组别 D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0.24</c:v>
                </c:pt>
                <c:pt idx="1">
                  <c:v>0.38</c:v>
                </c:pt>
                <c:pt idx="2">
                  <c:v>0.51</c:v>
                </c:pt>
                <c:pt idx="3">
                  <c:v>0.43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4253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示例结果图｜请替换数据与标题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处理组</c:v>
          </c:tx>
          <c:spPr>
            <a:ln xmlns:a="http://schemas.openxmlformats.org/drawingml/2006/main" w="28575">
              <a:solidFill>
                <a:srgbClr val="123F6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23F67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T-2</c:v>
                </c:pt>
                <c:pt idx="1">
                  <c:v>T-1</c:v>
                </c:pt>
                <c:pt idx="2">
                  <c:v>T0</c:v>
                </c:pt>
                <c:pt idx="3">
                  <c:v>T+1</c:v>
                </c:pt>
                <c:pt idx="4">
                  <c:v>T+2</c:v>
                </c:pt>
                <c:pt idx="5">
                  <c:v>T+3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0.18</c:v>
                </c:pt>
                <c:pt idx="1">
                  <c:v>0.19</c:v>
                </c:pt>
                <c:pt idx="2">
                  <c:v>0.2</c:v>
                </c:pt>
                <c:pt idx="3">
                  <c:v>0.31</c:v>
                </c:pt>
                <c:pt idx="4">
                  <c:v>0.39</c:v>
                </c:pt>
                <c:pt idx="5">
                  <c:v>0.44</c:v>
                </c:pt>
              </c:numCache>
            </c:numRef>
          </c:val>
        </c:ser>
        <c:ser>
          <c:idx val="1"/>
          <c:order val="1"/>
          <c:tx>
            <c:v>对照组</c:v>
          </c:tx>
          <c:spPr>
            <a:ln xmlns:a="http://schemas.openxmlformats.org/drawingml/2006/main" w="19050">
              <a:solidFill>
                <a:srgbClr val="8FA1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8FA1B2"/>
              </a:solidFill>
            </c:spPr>
          </c:marker>
          <c:cat>
            <c:strRef>
              <c:f>'Chart Data'!$C$2:$C$7</c:f>
              <c:strCache>
                <c:ptCount val="6"/>
                <c:pt idx="0">
                  <c:v>T-2</c:v>
                </c:pt>
                <c:pt idx="1">
                  <c:v>T-1</c:v>
                </c:pt>
                <c:pt idx="2">
                  <c:v>T0</c:v>
                </c:pt>
                <c:pt idx="3">
                  <c:v>T+1</c:v>
                </c:pt>
                <c:pt idx="4">
                  <c:v>T+2</c:v>
                </c:pt>
                <c:pt idx="5">
                  <c:v>T+3</c:v>
                </c:pt>
              </c:strCache>
            </c:str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0.17</c:v>
                </c:pt>
                <c:pt idx="1">
                  <c:v>0.18</c:v>
                </c:pt>
                <c:pt idx="2">
                  <c:v>0.19</c:v>
                </c:pt>
                <c:pt idx="3">
                  <c:v>0.2</c:v>
                </c:pt>
                <c:pt idx="4">
                  <c:v>0.21</c:v>
                </c:pt>
                <c:pt idx="5">
                  <c:v>0.22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示例结果图｜请替换数据与标题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边际效应</c:v>
          </c:tx>
          <c:spPr>
            <a:ln xmlns:a="http://schemas.openxmlformats.org/drawingml/2006/main" w="28575">
              <a:solidFill>
                <a:srgbClr val="123F67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123F67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低</c:v>
                </c:pt>
                <c:pt idx="1">
                  <c:v>较低</c:v>
                </c:pt>
                <c:pt idx="2">
                  <c:v>中等</c:v>
                </c:pt>
                <c:pt idx="3">
                  <c:v>较高</c:v>
                </c:pt>
                <c:pt idx="4">
                  <c:v>高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0.12</c:v>
                </c:pt>
                <c:pt idx="1">
                  <c:v>0.18</c:v>
                </c:pt>
                <c:pt idx="2">
                  <c:v>0.27</c:v>
                </c:pt>
                <c:pt idx="3">
                  <c:v>0.39</c:v>
                </c:pt>
                <c:pt idx="4">
                  <c:v>0.55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示例结果图｜请替换数据与标题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核心系数</c:v>
          </c:tx>
          <c:spPr>
            <a:solidFill xmlns:a="http://schemas.openxmlformats.org/drawingml/2006/main">
              <a:srgbClr val="123F67"/>
            </a:solidFill>
          </c:spPr>
          <c:cat>
            <c:strRef>
              <c:f>'Chart Data'!$A$2:$A$6</c:f>
              <c:strCache>
                <c:ptCount val="5"/>
                <c:pt idx="0">
                  <c:v>基准</c:v>
                </c:pt>
                <c:pt idx="1">
                  <c:v>替代变量</c:v>
                </c:pt>
                <c:pt idx="2">
                  <c:v>缩尾处理</c:v>
                </c:pt>
                <c:pt idx="3">
                  <c:v>匹配样本</c:v>
                </c:pt>
                <c:pt idx="4">
                  <c:v>安慰剂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0.42</c:v>
                </c:pt>
                <c:pt idx="1">
                  <c:v>0.39</c:v>
                </c:pt>
                <c:pt idx="2">
                  <c:v>0.41</c:v>
                </c:pt>
                <c:pt idx="3">
                  <c:v>0.36</c:v>
                </c:pt>
                <c:pt idx="4">
                  <c:v>0.05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4253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示例结果图｜请替换数据与标题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效应值</c:v>
          </c:tx>
          <c:spPr>
            <a:solidFill xmlns:a="http://schemas.openxmlformats.org/drawingml/2006/main">
              <a:srgbClr val="123F67"/>
            </a:solidFill>
          </c:spPr>
          <c:cat>
            <c:strRef>
              <c:f>'Chart Data'!$A$2:$A$4</c:f>
              <c:strCache>
                <c:ptCount val="3"/>
                <c:pt idx="0">
                  <c:v>低水平</c:v>
                </c:pt>
                <c:pt idx="1">
                  <c:v>中水平</c:v>
                </c:pt>
                <c:pt idx="2">
                  <c:v>高水平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0.18</c:v>
                </c:pt>
                <c:pt idx="1">
                  <c:v>0.34</c:v>
                </c:pt>
                <c:pt idx="2">
                  <c:v>0.49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示例结果图｜请替换数据与标题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ser>
          <c:idx val="0"/>
          <c:order val="0"/>
          <c:tx>
            <c:v>估计值</c:v>
          </c:tx>
          <c:spPr>
            <a:ln xmlns:a="http://schemas.openxmlformats.org/drawingml/2006/main" w="28575">
              <a:solidFill>
                <a:srgbClr val="123F6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23F67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T-1</c:v>
                </c:pt>
                <c:pt idx="1">
                  <c:v>T0</c:v>
                </c:pt>
                <c:pt idx="2">
                  <c:v>T+1</c:v>
                </c:pt>
                <c:pt idx="3">
                  <c:v>T+2</c:v>
                </c:pt>
                <c:pt idx="4">
                  <c:v>T+3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0.02</c:v>
                </c:pt>
                <c:pt idx="1">
                  <c:v>0.03</c:v>
                </c:pt>
                <c:pt idx="2">
                  <c:v>0.21</c:v>
                </c:pt>
                <c:pt idx="3">
                  <c:v>0.35</c:v>
                </c:pt>
                <c:pt idx="4">
                  <c:v>0.4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/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/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/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2DFE869F-8C75-41A5-86F4-FEDDB3FA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9710A-36D1-4832-8031-C81A34A6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1221D-79DE-4491-91A8-3208347A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AD8"/>
          </a:solidFill>
          <a:ln xmlns:a="http://schemas.openxmlformats.org/drawingml/2006/main" w="9525">
            <a:solidFill>
              <a:srgbClr val="B8CA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9FCAB-28F7-4654-996B-449FC59E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ECC1D-DB44-4ABC-84DA-4D22760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762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98DA9-2A60-48C9-8BA2-5FBDCC9F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35330"/>
            <a:ext cx="7620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B1D09-33E1-4BEF-9C90-5D1210A9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学术论文题目填写处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47DAD-BE3F-4FB1-B78B-95CA0B36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rPr>
              <a:t>可补充英文标题或一句话研究摘要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DEBF0-7909-4006-92A2-01F4373F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39231-6B28-456E-B4F2-AC32803E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14525"/>
            <a:ext cx="2190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A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D8A1E-3E64-49FB-A4F4-A1C4B83E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校徽 / 学院标识</a:t>
            </a:r>
          </a:p>
          <a:p xmlns:a="http://schemas.openxmlformats.org/drawingml/2006/main">
            <a:pPr algn="ctr">
              <a:defRPr sz="15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71D6A-269B-4DB0-837E-66B5E737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汇报人：姓名　　导师：姓名 / 职称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0A6DD-0A21-4A57-9622-F7F78D38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rPr>
              <a:t>学院 / 专业｜答辩或学术会议名称｜20XX 年 XX 月</a:t>
            </a:r>
          </a:p>
        </p:txBody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965513"/>
            <a:ext cx="9448800" cy="106648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800"/>
              <a:t/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graphicFrame>
        <p:nvGraphicFramePr>
          <p:cNvPr id="20" name="Table 6"/>
          <p:cNvGraphicFramePr/>
          <p:nvPr/>
        </p:nvGraphicFramePr>
        <p:xfrm>
          <a:off xmlns:a="http://schemas.openxmlformats.org/drawingml/2006/main" x="393698" y="2000250"/>
          <a:ext xmlns:a="http://schemas.openxmlformats.org/drawingml/2006/main" cx="7835901" cy="32816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研究背景与问题界定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理论框架与研究设计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实证结果与机制分析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结论、局限与展望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附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补充检验、问答备用页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注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章节名称可按学科要求调整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69ADA83D-DF77-AA76-6DA0-7A70CD7A4D20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5577C-931D-44BE-B063-DEF9CBB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74C2B-E466-4ABA-8BBA-837902F7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汇报结构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846B3-D264-460B-AFCB-377B6519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4AEA8-159C-47CB-9B70-C9C5EC50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91DC7-EAD4-4432-B42A-4FBA904E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2DF65-CAE9-4334-8182-C47D5E29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24872-7E9F-49AC-A896-D0EB100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E7567-1533-487A-A460-E7BE80C5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2146D-9225-4E33-A08A-8203E8AA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F501F-85DA-4DE2-930E-CEB39ED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69ADA83D-DF77-AA76-6DA0-7A70CD7A4D20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7F7039B8-BDAF-47AF-BB07-617099F5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58D784C-9585-4FC6-9EAE-A671318C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AD8"/>
          </a:solidFill>
          <a:ln xmlns:a="http://schemas.openxmlformats.org/drawingml/2006/main" w="9525">
            <a:solidFill>
              <a:srgbClr val="B8CAD8"/>
            </a:solidFill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79E922F-1FDE-4FEC-837B-A3C1B18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F9BAD25-59E7-4953-86CD-E8A21E70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8625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F7A9894-AFDB-4378-A274-BA32BA0F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5320"/>
            <a:ext cx="6667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1E2EF11-AA9F-4446-A91D-9C731F6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rPr>
              <a:t>一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E250AEAE-0B61-4E3B-921B-4EC23CF0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5735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研究背景与问题界定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D6F9731-4A3A-475B-A91A-ECE3D0D7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6860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rPr>
              <a:t>交代研究情境，明确核心问题，并说明论文在既有研究中的位置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00945F9-D22D-4BEA-9E1C-B0D5AD4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9299C6E-3FDF-5AB3-E054-F3F59B3398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3DF656-61B4-2882-D797-9122308526B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69ADA83D-DF77-AA76-6DA0-7A70CD7A4D20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414154B-F746-1A74-21F7-6E5F045F1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9F23F1-48AA-5A67-CC7C-B65A7A7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B02F86-AD0D-BE24-B025-8A7BB49E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39129E7-9749-F0E3-59EF-1B78698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8728FDE-6DD0-74E3-B860-01CB47A2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228B342-3C4A-AE4E-4223-223CEE7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83E7952-0C3E-8CA0-CBD2-20DE64F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1D1552-9316-E417-6E62-1A809C63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E266E2C-270B-3F65-3279-162369A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954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3A4ED8B-C681-4309-AC86-DF65F57A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714F20E-4A75-4A0A-A047-02BAD25E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FA83B7E-CC24-4B2B-8ABE-AEA89B5E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A513168-B4AC-46CB-BFCC-E259A94B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473A3A2-2C94-4D87-8194-452E9E43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1CA40E1-00BC-4828-B052-63B3A744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B22A233-F94C-4A5F-AF5C-A514CE5D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8A3C1C2-A3B1-40F2-88AE-6C87E18E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92A367B-6EDC-4662-8CFC-0F730486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073B2C9-0267-42AF-A65C-3B91044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4468BD4-CB8D-425C-AB68-AC7F9771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BB4C207-9822-4E15-9A25-63D551D4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27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用 2–3 句话说明研究对象、现实问题与学术语境。此处适合概括政策变化、行业现象或理论争议，并在页脚或备注中标注来源。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4984B46-D3CF-44AC-B910-5783594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60E621C-C9D5-4B18-BE68-A112877D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0763150-46B1-4C26-9D52-74369FFB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现实情境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9207FDB-4D71-4100-9E6A-2140EA2F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说明问题发生在哪里、涉及哪些主体，以及为什么值得研究。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C9923022-A5B4-4975-BFB8-BCFA570C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A4BF2C0-DCE6-49FB-AEFE-30136DC8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EA948BB-908E-499C-B89B-C526AD7E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学术问题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163E4B65-8C55-4190-A7B2-C6AD859D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指出现有解释的不足，避免只罗列文献结论。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981BF192-6E2E-43E7-B1B9-03166E73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C6F823D1-6250-46CD-9916-83DAA61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EF157A4-ACEC-43D1-88D0-086D32A0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08F8B659-E60A-4E7D-ADA9-156A23AB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分别概括理论意义与实践意义，控制在两条核心贡献内。</a:t>
            </a:r>
          </a:p>
        </p:txBody>
      </p:sp>
    </p:spTree>
    <p:extLst>
      <p:ext uri="{BB962C8B-B14F-4D97-AF65-F5344CB8AC3E}">
        <p14:creationId xmlns:p14="http://schemas.microsoft.com/office/powerpoint/2010/main" val="3101222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2470F20-E0CC-47A8-88EA-53EE8144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E0A7889-B439-47CF-B625-62C6F86F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072D070-0954-4BC7-B96E-21CEDF33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文献综述的三条主线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98DFA7D-5E94-4647-B8C3-04572D6F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71C12C4-3CCA-4CA4-8AA9-1D5FB1F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7E07C07F-270F-4B34-852A-F24FE87B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130669FB-A36B-4912-B050-639200DB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F49BEB77-8D7A-46A5-822B-66601932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3F87C42-1EDB-49DE-AE37-09451346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590CEB8-65F4-4FA3-8EA6-425C499F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96CF926-3F9C-4E60-9105-B1A6387A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D6650BCE-78D3-46A4-B8CB-46314F18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建议按概念或解释路径组织文献，而非按作者逐篇介绍。每个模块保留代表性结论、分歧与待解决问题。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0A1C1CD-AA33-4ABB-B6BE-348F5203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FB53D5F9-3E3C-44E4-8A36-5C237EAB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3E0B939-F4D9-4D76-B733-49891F21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研究流派 A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9DFF3056-2B47-4AF4-AAE4-109DCCA5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核心观点：……</a:t>
            </a:r>
          </a:p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主要证据：……</a:t>
            </a:r>
          </a:p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不足：……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ED382F1-C053-48EC-BD73-99CAFF3C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8B22A562-8784-4A82-B6DB-5809CCCE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57CC866-1DD2-4916-8390-AE8AFABD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研究流派 B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ABA4CD5A-433B-4034-A8D8-E9AFC1C0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核心观点：……</a:t>
            </a:r>
          </a:p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主要证据：……</a:t>
            </a:r>
          </a:p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与流派 A 的差异：……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F2DEBBDA-23C2-4059-BF55-5A29A699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5562DA9A-4B2E-41B6-8D27-06EE899D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4DAA4E92-9306-4027-93A5-90291AE3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研究流派 C</a:t>
            </a: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0FE18429-F039-4785-BD81-B9152E2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核心观点：……</a:t>
            </a:r>
          </a:p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适用边界：……</a:t>
            </a:r>
          </a:p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可延伸方向：……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69ADA83D-DF77-AA76-6DA0-7A70CD7A4D20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6EC04-E659-4B51-B875-6FEBE8F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B19A9-E2E1-47C2-9535-397EC9B5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79E34-306F-407E-8259-EDB76ACB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研究缺口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1426C-47FC-43C6-A30E-586A8EEE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B4A71-A7C2-4AC8-8D0A-5ED2E000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B25D3-1115-44B1-BA92-71A91D87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2870E-1AED-4315-AE61-DDBD5128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82018-6A5A-4E39-A0FD-48D8DC5B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D16F2-9E6B-4D51-B007-E4F9F2A6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5C0783-2473-40F6-8671-48D691C0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8CA73-15C4-4D79-86D8-187A2771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D313B4-F2C2-48E6-9248-8E2CDA6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01 概念层面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42C9D-4FEC-484A-8E68-51FFFDDA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2407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31BF3-81DF-49C4-B2C7-CF89ABAD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关键概念尚未统一，变量之间的边界需要进一步澄清。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E452EF-2B7E-465D-9C8A-6BC7AB7C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02 机制层面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C94FC-AFB9-48C2-ABE1-FE789645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2407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B8F5EA-3A5D-496A-94B7-3C879400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既有研究验证了相关关系，但中间过程仍缺乏直接证据。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205AB-B754-4C91-B685-E68E290D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03 方法层面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933410-7A83-4FF4-8821-336E7997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8FD2B2-846C-4EE1-ACCC-8DA902A9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样本、识别策略或测量方式限制了结论的外推范围。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A90377-ED9F-4D5B-965A-8CAA9DD6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04 情境层面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E5E35A-51F0-4967-80E2-2DD13A5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8A833A-148C-4746-A919-34E9E8B2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特定制度或文化条件可能改变已有理论的适用性。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81A225-34F9-0D3B-555E-87AD9B042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1DD0C3D-1675-441D-98CA-9BF8CF3F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6F1316E-1B0C-4268-9A96-EF75BB86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30B1BBE-D70E-4D47-955C-9911BF16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问题界定与研究情境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95F99EF5-77E2-4DAA-8FE6-7E0435A8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E608551-5443-4A5C-BF9B-70B9B68A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39916BD-BAFD-4AF5-94FE-AF23F921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FFDC85C-02BC-452E-8A68-172C81D9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53981DE-F7FD-44C9-93CF-8E6CE0F5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ED63063-A222-4909-BDC2-47FADE18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4A4FF46-6235-402A-803A-665F664B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36358C0-69B4-4D64-B832-C451AE08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F10E5CF-3DA1-4448-AE5E-250F9151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44417B28-62C4-45CF-8657-7C180359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研究对象在何种条件下产生何种结果，其作用机制是什么？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8CA0C48-A5BC-4E76-AC29-2FB4CBCA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4810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研究对象与分析单位：……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时间与空间范围：……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关键变量及其定义：……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需要排除的替代解释：……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4F8EC11-52F1-4EEB-A39B-99283F49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81125"/>
            <a:ext cx="5381625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DBD525CE-CB14-45EB-932B-CA938FD4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86100"/>
            <a:ext cx="503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144C17A-B773-4F49-A288-C6BD3E1E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81375"/>
            <a:ext cx="503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适合放置研究场景、样本地图、实验装置或概念示意图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2D2D5FC6-6DB6-4F46-BD74-4521BDD9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6732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图题：说明对象、时间与来源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7B3AC72D-A9FB-47FB-9D46-547CB26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7070C1F-9808-444D-A506-C78F0677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CEF7587-F058-49F6-890F-5B15BB36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研究问题与假设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BB6DA9F1-A5EF-4E69-978D-874B3608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319E52E-9C4E-47B9-A571-E38C15B5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028F4B6-F2F5-4D45-807F-DB5BF59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D40F755-2B8A-4129-BF83-EF08C399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F11A1A6D-480C-4D36-9AED-A2401474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6A1241A-6156-4B87-A41F-62DE9B09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95DC769D-5368-4715-9FA1-A63F7262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DD4E129-5B52-41B5-9A4A-F209DC73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004EA97B-01A4-43F7-8889-FF022099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RQ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FBD8D17-F3EB-4F87-9FA0-FFC29729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362075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核心研究问题填写处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99FC642-9B4D-4741-B9B5-6835BAC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38EFF38-3546-425A-BEE7-1DDA06AC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H1  主效应或核心关系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06C3DB8-D2CC-469F-AD7A-CF8CC111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38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用完整、可检验的句子陈述假设，并与前文理论推导保持一致。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842BDE2-E6F3-425E-ACC1-334FDC1F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BAE6F363-D7BC-4D5F-B4FF-876329F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H2  中介或作用机制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15AC034-5CB2-49EF-A5E7-2501FA06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575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用完整、可检验的句子陈述假设，并与前文理论推导保持一致。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77FE1C7A-E61D-492A-BF35-4000CD86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085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F1783BFE-8686-4734-AA33-F2A7FA41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H3  调节效应或边界条件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155BD4D3-4015-4418-82EC-2C916090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76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用完整、可检验的句子陈述假设，并与前文理论推导保持一致。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372C94A-ECA1-4307-9B16-D26C75D2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5121677-917E-443F-8EAC-0D779166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AD8"/>
          </a:solidFill>
          <a:ln xmlns:a="http://schemas.openxmlformats.org/drawingml/2006/main" w="9525">
            <a:solidFill>
              <a:srgbClr val="B8CAD8"/>
            </a:solidFill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08DFBB3-DEA3-46A1-BC3B-8FBCB018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9998D1D-5056-4291-8780-E08B4E50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8625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585E650-C45F-4519-9052-B3731355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5320"/>
            <a:ext cx="6667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E1DE3384-F67C-4578-AE55-E3B7517A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rPr>
              <a:t>二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32F1705E-CB16-4331-8BF8-F6352C1E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5735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理论框架与研究设计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1D8322E-67FB-4C74-B32D-1FBC61F1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6860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rPr>
              <a:t>说明理论逻辑、数据来源、变量测量与识别策略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B523226-B59C-4DCC-8CAE-5C4BBCE0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9B31D3A-1634-4D40-9A76-85C7FEBD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AD4309F-9BC5-4823-ADBD-4CB1607D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DBD5FAF-619F-4ACE-8CBF-A6B7A68F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研究材料与数据来源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DA481BA-D13C-4015-BF76-F5234568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201C70C-E39D-4DF5-BE87-A8FCEAF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47D0755-D1F4-486F-9524-DB9841A4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D62518C-48EF-4931-A9D7-F764C57E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ACC9F136-6CBC-41A6-B4FA-90369A52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F27924D-3D2D-4F17-B842-FBE03995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DD29359-5F48-4EB0-8BE5-6263F2E5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83EE39ED-F26D-41AF-8FED-D55B0561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036FD8E-93FC-437D-A49E-32BFCA8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三图并列适合呈现数据采集场景、数据库界面、实验材料或样本来源。每张图均应附图题与来源。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DA101A4-F8E8-426C-821E-6471CB1C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A5D3137-4671-4508-B2F0-83585EAA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F447AF3-821E-4016-B9CD-DA9AAAD5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 A：数据来源一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C4A5F5BD-C171-432E-B72B-6538847B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图题：说明对象、时间与来源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A1609AC-CC49-4AC7-9C24-3E69899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A211C478-C3C8-43AA-BECE-85F47D19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101C440-53C7-411B-A0D1-D08ED8DF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 B：数据来源二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E066607-3F73-491C-8F83-0CBCE494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958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图题：说明对象、时间与来源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A0848146-8877-4AE0-90C4-68D08848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62F52DAF-D8EF-4EED-BA3E-08833777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3909DAD-1216-4F2E-BE43-18FF64B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 C：数据来源三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77E712DD-B9B5-4696-96F5-5E33963F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958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图题：说明对象、时间与来源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CD0B058-69B3-6143-3EBD-18BD898104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0668A09-AE04-4D10-D919-57ECE29CD5E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CC1BC07A-CC6E-9DC4-2C70-CCF4F96B0F92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3437E985-0C72-7D72-6091-7E6FBAF26D6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A2DC3E09-5458-5FAC-7B68-A9CC33D48C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B9615-6127-44DE-9FAD-919571F0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466FF-C35F-46BB-A671-319CB997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DB706-0B49-4C2D-B291-7EF6178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研究设计概览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70CB9-4044-447E-A9CA-6A12FD18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29806-DF50-49BF-B940-CCB6FD39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87398-A39A-4A77-9D34-21D7CE50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6AEEA-96FC-4D87-B6CE-A1409384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10F918-1CB8-4B38-89E7-096D08A0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3BDAB8-B96E-427C-97F7-53672857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3EC702-1D35-47D8-8B6C-5E248C7C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8DE471-E002-40CB-9A50-5A703305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7BC54-2565-43DE-AB30-9FFFC1C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从问题到证据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E0066E-1DA5-4828-A64A-05C26809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E18FDD-F4E9-4311-8BB1-78541CF1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提出问题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B11D6C-2BE9-4463-B624-9C217579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确定研究对象与理论边界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E53351-F5D3-4D41-9683-13E425C5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B62196-435F-4A1A-816B-667421FC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992723-FEC7-4E88-B631-2842C72C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收集数据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47406A-222F-4940-861C-50469CD1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说明样本、时间与数据清洗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E9EBF6-8A79-4676-AC9F-6680249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5FF658-D180-4D27-B8D8-6C7D11CD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2BAD0C-4B40-46E3-A667-39236AC3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识别关系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CCFD79-3E07-4EE5-BFB1-A80119B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957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给出模型、对照与识别假设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FE9B3E-AB11-403A-9AF0-FEBC2055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F2E3EB-35EF-46E1-8569-F568EBAD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2FE678-E237-47FC-88C6-F046CC0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验证机制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F3D3D9-39D1-4134-86D7-097A4C2E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采用机制检验与稳健性分析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90AEB0-9B04-4A47-9AA9-301F3E1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02CFE3A-BCC1-081C-E12A-0C43D45632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0DED229D-8FB1-A98B-48DE-0F84D8CCF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8597" cy="63640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C769086-2F0B-B36D-7560-45B38E8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4B4F040-FAA4-CBA4-C03F-67330800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3282E3A-FC17-B9FF-87A4-5434FC2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2E4F352-DEC2-5D62-627F-FCEDE88978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9F8FFA6-07EE-FB23-ECDF-907422B2BA20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FA7F576-9166-371F-C253-9344F3BA9E13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6459F02-532C-26D9-1417-D97C7C8B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3"/>
            <a:ext cx="11404599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6C4609E9-0A0F-C12B-2A4D-B112D25BA1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B2115-DD20-4709-9447-4799A827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7791D-A0FF-4556-AE72-2D80A585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AD888-FC2D-47C9-B066-FD73E802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变量与测量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85A9D-F283-481A-AFFA-E0F3237E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869E-717C-4FA8-BFFF-EEF9C0D6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18D6B-F89D-4CCB-9EA4-59F20E20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789A1-E363-4E15-B75F-D0217074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D240C-8A88-4C35-89FE-4A4E0452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8568D-8FD9-4743-9C1C-A8241B2D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E0D8A4-4353-4393-9A63-348EE854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7CE4B-A992-452C-9EDC-02E9B756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A5DB8-E352-4872-9439-607C1E6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因变量 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70200-D565-4E23-B16E-66744DA7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B770E-276F-4E32-A7FB-C8D8A551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240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变量定义、测量口径、数据来源与单位。必要时补充替代测量。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824F50-4B54-4AEA-AEFF-315DDAE6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核心自变量 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68C101-C4DF-48C5-8B18-803DEEA0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BB6FD-D15A-43E4-BB8F-A4BF906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240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说明理论含义、操作化方式，以及为何能代表核心概念。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B26D35-7DF7-4CDF-8F32-888F15E0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机制变量 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BFE04A-18EF-442A-A5D6-5DBE837E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93630-70F1-4C6C-A30A-2A8D5FDE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明确中介过程或传导渠道，并说明测量的时间顺序。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E8D9E-5C4E-45FE-A2E8-DDF3D3A4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控制变量 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52E25B-11F5-4944-92CF-F1F8297A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FB618F-AD99-4548-B7B9-85E15D07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仅保留具有理论依据或识别必要性的控制变量。</a:t>
            </a:r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r>
              <a:t/>
            </a: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r>
              <a:t/>
            </a: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r>
              <a:t/>
            </a: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5" name="Slide Number Placeholder 14">
            <a:extLst xmlns:a="http://schemas.openxmlformats.org/drawingml/2006/main"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13377-F651-4A3B-B5FD-6D8F6CA4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B01F7-C8CB-433C-8135-4AF6C14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C8764-6A5A-44D8-BB9D-B0B4082C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方法选择与识别逻辑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6DD39-2500-4C68-A5AB-48BD9C2E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274EF2-A70C-4620-9925-DA6DCBAE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F4D01-D331-4160-AE2D-B2C1FC4B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C3434-6450-40A8-AEF3-F3A1197E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53A51-B0FC-4108-864E-C7F71432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D45BF-38DA-45F9-9CE1-49FD55B9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E8708F-9BF1-44D6-B46F-B494A3D4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E1061-BD28-4A71-9C40-AD572AB9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BDD0E-294E-46FE-87D6-257F882D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模型的选择应回应研究问题，并说明识别结论依赖哪些假设。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261E4-60A6-44E0-822B-AD456219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4545D-E30D-43F9-A11D-05429313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A1F43-E60B-450D-8F5E-DFA42BF5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基准模型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D1262-717E-411D-84AD-E0672F3B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模型表达式：……</a:t>
            </a:r>
          </a:p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估计对象：……</a:t>
            </a:r>
          </a:p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标准误处理：……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A3BC97-B7A1-4907-AA6D-D6CEC99E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05000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3980A3-9BB1-4936-9B9C-6624AC04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37413F-2363-4F15-BF42-CA48420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识别假设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130DFC-1759-4E0F-B9A4-D0AC4654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平行趋势、外生性或随机分配等关键假设，以及对应检验。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ED6E4E-3AAA-4909-A41D-B7C403D4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97A0F6-EFB5-4B4C-A33C-FC6AA464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F1D1DF-1667-4A01-B52E-14D323C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替代方案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1C70F3-01B8-42B4-AB93-C8469845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说明为何未采用其他模型，或在附录中提供替代估计。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4D765FCF-56FA-8EE2-65DF-D8A5321F3C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FA1AD57-2515-3263-71AA-F5510D7245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F4CF59D7-297B-30C8-431E-585575A55EC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252743B9-4592-4663-CAD2-40CC23D40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0018B0C7-DC20-D7FE-2D99-C8372B9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3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142AC269-69D2-161D-AD16-2E5D7B8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4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7E988850-5A60-A9C4-B928-BDFEC4F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43830694-5B70-1E3A-562E-A57DE1D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2022554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r>
              <a:t/>
            </a: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7C8ADA23-5610-C31E-B048-A0886ED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2018463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r>
              <a:t/>
            </a: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 Shape;1369;p101">
            <a:extLst xmlns:a="http://schemas.openxmlformats.org/drawingml/2006/main">
              <a:ext uri="{FF2B5EF4-FFF2-40B4-BE49-F238E27FC236}">
                <a16:creationId xmlns:a16="http://schemas.microsoft.com/office/drawing/2014/main" id="{41FBCA7C-C2E7-AFB5-3B6C-4D9C9E1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0146"/>
            <a:ext cx="338580" cy="338688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r>
              <a:t/>
            </a: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415;p101">
            <a:extLst xmlns:a="http://schemas.openxmlformats.org/drawingml/2006/main">
              <a:ext uri="{FF2B5EF4-FFF2-40B4-BE49-F238E27FC236}">
                <a16:creationId xmlns:a16="http://schemas.microsoft.com/office/drawing/2014/main" id="{8574D0ED-7640-B4E7-7B56-C1CA61B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5" y="4050316"/>
            <a:ext cx="389340" cy="304776"/>
          </a:xfrm>
          <a:custGeom xmlns:a="http://schemas.openxmlformats.org/drawingml/2006/main">
            <a:rect l="l" t="t" r="r" b="b"/>
            <a:pathLst>
              <a:path w="21600" h="21600">
                <a:moveTo>
                  <a:pt x="6574" y="2400"/>
                </a:moveTo>
                <a:cubicBezTo>
                  <a:pt x="5277" y="2400"/>
                  <a:pt x="4226" y="3743"/>
                  <a:pt x="4226" y="5400"/>
                </a:cubicBezTo>
                <a:cubicBezTo>
                  <a:pt x="4226" y="7057"/>
                  <a:pt x="5277" y="8400"/>
                  <a:pt x="6574" y="8400"/>
                </a:cubicBezTo>
                <a:cubicBezTo>
                  <a:pt x="7871" y="8400"/>
                  <a:pt x="8922" y="7057"/>
                  <a:pt x="8922" y="5400"/>
                </a:cubicBezTo>
                <a:cubicBezTo>
                  <a:pt x="8922" y="3743"/>
                  <a:pt x="7871" y="2400"/>
                  <a:pt x="6574" y="2400"/>
                </a:cubicBezTo>
                <a:close/>
                <a:moveTo>
                  <a:pt x="2348" y="5400"/>
                </a:moveTo>
                <a:cubicBezTo>
                  <a:pt x="2348" y="2418"/>
                  <a:pt x="4240" y="0"/>
                  <a:pt x="6574" y="0"/>
                </a:cubicBezTo>
                <a:cubicBezTo>
                  <a:pt x="8908" y="0"/>
                  <a:pt x="10800" y="2418"/>
                  <a:pt x="10800" y="5400"/>
                </a:cubicBezTo>
                <a:cubicBezTo>
                  <a:pt x="10800" y="8382"/>
                  <a:pt x="8908" y="10800"/>
                  <a:pt x="6574" y="10800"/>
                </a:cubicBezTo>
                <a:cubicBezTo>
                  <a:pt x="4240" y="10800"/>
                  <a:pt x="2348" y="8382"/>
                  <a:pt x="2348" y="5400"/>
                </a:cubicBezTo>
                <a:close/>
                <a:moveTo>
                  <a:pt x="15496" y="3600"/>
                </a:moveTo>
                <a:cubicBezTo>
                  <a:pt x="14458" y="3600"/>
                  <a:pt x="13617" y="4674"/>
                  <a:pt x="13617" y="6000"/>
                </a:cubicBezTo>
                <a:cubicBezTo>
                  <a:pt x="13617" y="7326"/>
                  <a:pt x="14458" y="8400"/>
                  <a:pt x="15496" y="8400"/>
                </a:cubicBezTo>
                <a:cubicBezTo>
                  <a:pt x="16533" y="8400"/>
                  <a:pt x="17374" y="7326"/>
                  <a:pt x="17374" y="6000"/>
                </a:cubicBezTo>
                <a:cubicBezTo>
                  <a:pt x="17374" y="4674"/>
                  <a:pt x="16533" y="3600"/>
                  <a:pt x="15496" y="3600"/>
                </a:cubicBezTo>
                <a:close/>
                <a:moveTo>
                  <a:pt x="11739" y="6000"/>
                </a:moveTo>
                <a:cubicBezTo>
                  <a:pt x="11739" y="3349"/>
                  <a:pt x="13421" y="1200"/>
                  <a:pt x="15496" y="1200"/>
                </a:cubicBezTo>
                <a:cubicBezTo>
                  <a:pt x="17570" y="1200"/>
                  <a:pt x="19252" y="3349"/>
                  <a:pt x="19252" y="6000"/>
                </a:cubicBezTo>
                <a:cubicBezTo>
                  <a:pt x="19252" y="8651"/>
                  <a:pt x="17570" y="10800"/>
                  <a:pt x="15496" y="10800"/>
                </a:cubicBezTo>
                <a:cubicBezTo>
                  <a:pt x="13421" y="10800"/>
                  <a:pt x="11739" y="8651"/>
                  <a:pt x="11739" y="6000"/>
                </a:cubicBezTo>
                <a:close/>
                <a:moveTo>
                  <a:pt x="3324" y="15896"/>
                </a:moveTo>
                <a:cubicBezTo>
                  <a:pt x="2477" y="16858"/>
                  <a:pt x="1878" y="18325"/>
                  <a:pt x="1878" y="20400"/>
                </a:cubicBezTo>
                <a:cubicBezTo>
                  <a:pt x="1878" y="21062"/>
                  <a:pt x="1458" y="21600"/>
                  <a:pt x="939" y="21600"/>
                </a:cubicBezTo>
                <a:cubicBezTo>
                  <a:pt x="421" y="21600"/>
                  <a:pt x="0" y="21062"/>
                  <a:pt x="0" y="20400"/>
                </a:cubicBezTo>
                <a:cubicBezTo>
                  <a:pt x="0" y="17675"/>
                  <a:pt x="810" y="15542"/>
                  <a:pt x="2076" y="14102"/>
                </a:cubicBezTo>
                <a:cubicBezTo>
                  <a:pt x="3325" y="12684"/>
                  <a:pt x="4965" y="12000"/>
                  <a:pt x="6574" y="12000"/>
                </a:cubicBezTo>
                <a:cubicBezTo>
                  <a:pt x="8183" y="12000"/>
                  <a:pt x="9822" y="12684"/>
                  <a:pt x="11071" y="14102"/>
                </a:cubicBezTo>
                <a:cubicBezTo>
                  <a:pt x="12338" y="15542"/>
                  <a:pt x="13148" y="17675"/>
                  <a:pt x="13148" y="20400"/>
                </a:cubicBezTo>
                <a:cubicBezTo>
                  <a:pt x="13148" y="21062"/>
                  <a:pt x="12727" y="21600"/>
                  <a:pt x="12209" y="21600"/>
                </a:cubicBezTo>
                <a:cubicBezTo>
                  <a:pt x="11690" y="21600"/>
                  <a:pt x="11270" y="21062"/>
                  <a:pt x="11270" y="20400"/>
                </a:cubicBezTo>
                <a:cubicBezTo>
                  <a:pt x="11270" y="18325"/>
                  <a:pt x="10670" y="16858"/>
                  <a:pt x="9824" y="15896"/>
                </a:cubicBezTo>
                <a:cubicBezTo>
                  <a:pt x="8960" y="14916"/>
                  <a:pt x="7783" y="14400"/>
                  <a:pt x="6574" y="14400"/>
                </a:cubicBezTo>
                <a:cubicBezTo>
                  <a:pt x="5365" y="14400"/>
                  <a:pt x="4188" y="14916"/>
                  <a:pt x="3324" y="15896"/>
                </a:cubicBezTo>
                <a:close/>
                <a:moveTo>
                  <a:pt x="18122" y="15168"/>
                </a:moveTo>
                <a:cubicBezTo>
                  <a:pt x="17175" y="14402"/>
                  <a:pt x="15927" y="14200"/>
                  <a:pt x="14811" y="14602"/>
                </a:cubicBezTo>
                <a:cubicBezTo>
                  <a:pt x="14312" y="14782"/>
                  <a:pt x="13793" y="14411"/>
                  <a:pt x="13653" y="13772"/>
                </a:cubicBezTo>
                <a:cubicBezTo>
                  <a:pt x="13512" y="13134"/>
                  <a:pt x="13802" y="12472"/>
                  <a:pt x="14302" y="12292"/>
                </a:cubicBezTo>
                <a:cubicBezTo>
                  <a:pt x="15894" y="11718"/>
                  <a:pt x="17698" y="11986"/>
                  <a:pt x="19125" y="13139"/>
                </a:cubicBezTo>
                <a:cubicBezTo>
                  <a:pt x="20589" y="14320"/>
                  <a:pt x="21600" y="16387"/>
                  <a:pt x="21600" y="19200"/>
                </a:cubicBezTo>
                <a:cubicBezTo>
                  <a:pt x="21600" y="19862"/>
                  <a:pt x="21179" y="20400"/>
                  <a:pt x="20661" y="20400"/>
                </a:cubicBezTo>
                <a:cubicBezTo>
                  <a:pt x="20142" y="20400"/>
                  <a:pt x="19722" y="19862"/>
                  <a:pt x="19722" y="19200"/>
                </a:cubicBezTo>
                <a:cubicBezTo>
                  <a:pt x="19722" y="17202"/>
                  <a:pt x="19034" y="15905"/>
                  <a:pt x="18122" y="15168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r>
              <a:t/>
            </a: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12;p103">
            <a:extLst xmlns:a="http://schemas.openxmlformats.org/drawingml/2006/main">
              <a:ext uri="{FF2B5EF4-FFF2-40B4-BE49-F238E27FC236}">
                <a16:creationId xmlns:a16="http://schemas.microsoft.com/office/drawing/2014/main" id="{D015E4E0-1777-A560-A6C2-AEDA1FA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36" y="4025768"/>
            <a:ext cx="305570" cy="338652"/>
          </a:xfrm>
          <a:custGeom xmlns:a="http://schemas.openxmlformats.org/drawingml/2006/main">
            <a:rect l="l" t="t" r="r" b="b"/>
            <a:pathLst>
              <a:path w="21538" h="21553">
                <a:moveTo>
                  <a:pt x="10897" y="543"/>
                </a:moveTo>
                <a:cubicBezTo>
                  <a:pt x="11135" y="165"/>
                  <a:pt x="11603" y="-46"/>
                  <a:pt x="12081" y="8"/>
                </a:cubicBezTo>
                <a:lnTo>
                  <a:pt x="12622" y="69"/>
                </a:lnTo>
                <a:cubicBezTo>
                  <a:pt x="15566" y="401"/>
                  <a:pt x="17464" y="3053"/>
                  <a:pt x="16592" y="5614"/>
                </a:cubicBezTo>
                <a:lnTo>
                  <a:pt x="15932" y="7551"/>
                </a:lnTo>
                <a:cubicBezTo>
                  <a:pt x="16337" y="7557"/>
                  <a:pt x="16701" y="7570"/>
                  <a:pt x="17029" y="7593"/>
                </a:cubicBezTo>
                <a:cubicBezTo>
                  <a:pt x="17750" y="7644"/>
                  <a:pt x="18413" y="7753"/>
                  <a:pt x="19016" y="8039"/>
                </a:cubicBezTo>
                <a:cubicBezTo>
                  <a:pt x="20257" y="8629"/>
                  <a:pt x="21148" y="9683"/>
                  <a:pt x="21451" y="10920"/>
                </a:cubicBezTo>
                <a:cubicBezTo>
                  <a:pt x="21599" y="11520"/>
                  <a:pt x="21541" y="12127"/>
                  <a:pt x="21406" y="12769"/>
                </a:cubicBezTo>
                <a:cubicBezTo>
                  <a:pt x="21273" y="13395"/>
                  <a:pt x="21043" y="14161"/>
                  <a:pt x="20759" y="15099"/>
                </a:cubicBezTo>
                <a:lnTo>
                  <a:pt x="20202" y="16946"/>
                </a:lnTo>
                <a:cubicBezTo>
                  <a:pt x="20181" y="17013"/>
                  <a:pt x="20161" y="17078"/>
                  <a:pt x="20142" y="17143"/>
                </a:cubicBezTo>
                <a:cubicBezTo>
                  <a:pt x="19789" y="18315"/>
                  <a:pt x="19524" y="19196"/>
                  <a:pt x="18943" y="19876"/>
                </a:cubicBezTo>
                <a:cubicBezTo>
                  <a:pt x="18432" y="20473"/>
                  <a:pt x="17757" y="20939"/>
                  <a:pt x="16986" y="21226"/>
                </a:cubicBezTo>
                <a:cubicBezTo>
                  <a:pt x="16107" y="21554"/>
                  <a:pt x="15095" y="21553"/>
                  <a:pt x="13750" y="21552"/>
                </a:cubicBezTo>
                <a:cubicBezTo>
                  <a:pt x="11456" y="21551"/>
                  <a:pt x="9164" y="21552"/>
                  <a:pt x="6872" y="21552"/>
                </a:cubicBezTo>
                <a:cubicBezTo>
                  <a:pt x="5911" y="21552"/>
                  <a:pt x="5118" y="21552"/>
                  <a:pt x="4472" y="21505"/>
                </a:cubicBezTo>
                <a:cubicBezTo>
                  <a:pt x="3802" y="21455"/>
                  <a:pt x="3185" y="21349"/>
                  <a:pt x="2606" y="21082"/>
                </a:cubicBezTo>
                <a:cubicBezTo>
                  <a:pt x="1708" y="20669"/>
                  <a:pt x="979" y="20010"/>
                  <a:pt x="520" y="19199"/>
                </a:cubicBezTo>
                <a:cubicBezTo>
                  <a:pt x="226" y="18676"/>
                  <a:pt x="108" y="18119"/>
                  <a:pt x="53" y="17513"/>
                </a:cubicBezTo>
                <a:cubicBezTo>
                  <a:pt x="0" y="16930"/>
                  <a:pt x="0" y="16214"/>
                  <a:pt x="0" y="15346"/>
                </a:cubicBezTo>
                <a:lnTo>
                  <a:pt x="0" y="12931"/>
                </a:lnTo>
                <a:cubicBezTo>
                  <a:pt x="0" y="12881"/>
                  <a:pt x="0" y="12832"/>
                  <a:pt x="0" y="12783"/>
                </a:cubicBezTo>
                <a:cubicBezTo>
                  <a:pt x="0" y="11926"/>
                  <a:pt x="-1" y="11289"/>
                  <a:pt x="162" y="10738"/>
                </a:cubicBezTo>
                <a:cubicBezTo>
                  <a:pt x="604" y="9250"/>
                  <a:pt x="1890" y="8088"/>
                  <a:pt x="3538" y="7690"/>
                </a:cubicBezTo>
                <a:cubicBezTo>
                  <a:pt x="4148" y="7542"/>
                  <a:pt x="4853" y="7542"/>
                  <a:pt x="5803" y="7543"/>
                </a:cubicBezTo>
                <a:cubicBezTo>
                  <a:pt x="5857" y="7543"/>
                  <a:pt x="5911" y="7543"/>
                  <a:pt x="5966" y="7543"/>
                </a:cubicBezTo>
                <a:cubicBezTo>
                  <a:pt x="6277" y="7543"/>
                  <a:pt x="6562" y="7393"/>
                  <a:pt x="6716" y="7150"/>
                </a:cubicBezTo>
                <a:lnTo>
                  <a:pt x="10897" y="543"/>
                </a:lnTo>
                <a:close/>
                <a:moveTo>
                  <a:pt x="5407" y="19388"/>
                </a:moveTo>
                <a:cubicBezTo>
                  <a:pt x="5204" y="19068"/>
                  <a:pt x="5044" y="18723"/>
                  <a:pt x="4935" y="18357"/>
                </a:cubicBezTo>
                <a:cubicBezTo>
                  <a:pt x="4772" y="17806"/>
                  <a:pt x="4773" y="17169"/>
                  <a:pt x="4773" y="16312"/>
                </a:cubicBezTo>
                <a:cubicBezTo>
                  <a:pt x="4773" y="16264"/>
                  <a:pt x="4773" y="16214"/>
                  <a:pt x="4773" y="16164"/>
                </a:cubicBezTo>
                <a:lnTo>
                  <a:pt x="4773" y="9709"/>
                </a:lnTo>
                <a:cubicBezTo>
                  <a:pt x="4466" y="9719"/>
                  <a:pt x="4297" y="9737"/>
                  <a:pt x="4155" y="9772"/>
                </a:cubicBezTo>
                <a:cubicBezTo>
                  <a:pt x="3332" y="9971"/>
                  <a:pt x="2689" y="10552"/>
                  <a:pt x="2468" y="11296"/>
                </a:cubicBezTo>
                <a:cubicBezTo>
                  <a:pt x="2397" y="11535"/>
                  <a:pt x="2387" y="11860"/>
                  <a:pt x="2387" y="12931"/>
                </a:cubicBezTo>
                <a:lnTo>
                  <a:pt x="2387" y="15302"/>
                </a:lnTo>
                <a:cubicBezTo>
                  <a:pt x="2387" y="16225"/>
                  <a:pt x="2388" y="16853"/>
                  <a:pt x="2432" y="17338"/>
                </a:cubicBezTo>
                <a:cubicBezTo>
                  <a:pt x="2474" y="17810"/>
                  <a:pt x="2551" y="18052"/>
                  <a:pt x="2647" y="18220"/>
                </a:cubicBezTo>
                <a:cubicBezTo>
                  <a:pt x="2876" y="18626"/>
                  <a:pt x="3241" y="18955"/>
                  <a:pt x="3690" y="19162"/>
                </a:cubicBezTo>
                <a:cubicBezTo>
                  <a:pt x="3877" y="19248"/>
                  <a:pt x="4144" y="19318"/>
                  <a:pt x="4667" y="19356"/>
                </a:cubicBezTo>
                <a:cubicBezTo>
                  <a:pt x="4884" y="19372"/>
                  <a:pt x="5128" y="19382"/>
                  <a:pt x="5407" y="19388"/>
                </a:cubicBezTo>
                <a:close/>
                <a:moveTo>
                  <a:pt x="7160" y="9493"/>
                </a:moveTo>
                <a:lnTo>
                  <a:pt x="7160" y="16164"/>
                </a:lnTo>
                <a:cubicBezTo>
                  <a:pt x="7160" y="17236"/>
                  <a:pt x="7170" y="17560"/>
                  <a:pt x="7241" y="17799"/>
                </a:cubicBezTo>
                <a:cubicBezTo>
                  <a:pt x="7462" y="18543"/>
                  <a:pt x="8105" y="19124"/>
                  <a:pt x="8928" y="19324"/>
                </a:cubicBezTo>
                <a:cubicBezTo>
                  <a:pt x="9194" y="19388"/>
                  <a:pt x="9553" y="19397"/>
                  <a:pt x="10739" y="19397"/>
                </a:cubicBezTo>
                <a:lnTo>
                  <a:pt x="13524" y="19397"/>
                </a:lnTo>
                <a:cubicBezTo>
                  <a:pt x="15200" y="19397"/>
                  <a:pt x="15691" y="19377"/>
                  <a:pt x="16076" y="19234"/>
                </a:cubicBezTo>
                <a:cubicBezTo>
                  <a:pt x="16461" y="19090"/>
                  <a:pt x="16799" y="18857"/>
                  <a:pt x="17054" y="18559"/>
                </a:cubicBezTo>
                <a:cubicBezTo>
                  <a:pt x="17307" y="18262"/>
                  <a:pt x="17458" y="17839"/>
                  <a:pt x="17899" y="16379"/>
                </a:cubicBezTo>
                <a:lnTo>
                  <a:pt x="18444" y="14575"/>
                </a:lnTo>
                <a:cubicBezTo>
                  <a:pt x="18744" y="13583"/>
                  <a:pt x="18949" y="12899"/>
                  <a:pt x="19061" y="12366"/>
                </a:cubicBezTo>
                <a:cubicBezTo>
                  <a:pt x="19172" y="11837"/>
                  <a:pt x="19166" y="11567"/>
                  <a:pt x="19122" y="11387"/>
                </a:cubicBezTo>
                <a:cubicBezTo>
                  <a:pt x="18970" y="10768"/>
                  <a:pt x="18524" y="10241"/>
                  <a:pt x="17904" y="9946"/>
                </a:cubicBezTo>
                <a:cubicBezTo>
                  <a:pt x="17722" y="9860"/>
                  <a:pt x="17436" y="9783"/>
                  <a:pt x="16842" y="9741"/>
                </a:cubicBezTo>
                <a:cubicBezTo>
                  <a:pt x="16243" y="9699"/>
                  <a:pt x="15457" y="9698"/>
                  <a:pt x="14319" y="9698"/>
                </a:cubicBezTo>
                <a:cubicBezTo>
                  <a:pt x="13941" y="9698"/>
                  <a:pt x="13584" y="9536"/>
                  <a:pt x="13360" y="9261"/>
                </a:cubicBezTo>
                <a:cubicBezTo>
                  <a:pt x="13134" y="8986"/>
                  <a:pt x="13067" y="8631"/>
                  <a:pt x="13178" y="8304"/>
                </a:cubicBezTo>
                <a:lnTo>
                  <a:pt x="14311" y="4980"/>
                </a:lnTo>
                <a:cubicBezTo>
                  <a:pt x="14722" y="3771"/>
                  <a:pt x="13900" y="2522"/>
                  <a:pt x="12567" y="2246"/>
                </a:cubicBezTo>
                <a:lnTo>
                  <a:pt x="8787" y="8220"/>
                </a:lnTo>
                <a:cubicBezTo>
                  <a:pt x="8415" y="8808"/>
                  <a:pt x="7836" y="9252"/>
                  <a:pt x="7160" y="949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r>
              <a:t/>
            </a: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266;p99">
            <a:extLst xmlns:a="http://schemas.openxmlformats.org/drawingml/2006/main">
              <a:ext uri="{FF2B5EF4-FFF2-40B4-BE49-F238E27FC236}">
                <a16:creationId xmlns:a16="http://schemas.microsoft.com/office/drawing/2014/main" id="{A7463D0C-45D0-FAD2-0C32-0321657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485" y="4029083"/>
            <a:ext cx="321663" cy="321771"/>
          </a:xfrm>
          <a:custGeom xmlns:a="http://schemas.openxmlformats.org/drawingml/2006/main">
            <a:rect l="l" t="t" r="r" b="b"/>
            <a:pathLst>
              <a:path w="21599" h="21599">
                <a:moveTo>
                  <a:pt x="6252" y="0"/>
                </a:moveTo>
                <a:cubicBezTo>
                  <a:pt x="6880" y="0"/>
                  <a:pt x="7389" y="509"/>
                  <a:pt x="7389" y="1137"/>
                </a:cubicBezTo>
                <a:lnTo>
                  <a:pt x="14210" y="1137"/>
                </a:lnTo>
                <a:cubicBezTo>
                  <a:pt x="14210" y="509"/>
                  <a:pt x="14719" y="0"/>
                  <a:pt x="15347" y="0"/>
                </a:cubicBezTo>
                <a:cubicBezTo>
                  <a:pt x="15974" y="0"/>
                  <a:pt x="16483" y="509"/>
                  <a:pt x="16483" y="1137"/>
                </a:cubicBezTo>
                <a:lnTo>
                  <a:pt x="16483" y="1146"/>
                </a:lnTo>
                <a:cubicBezTo>
                  <a:pt x="16839" y="1155"/>
                  <a:pt x="17162" y="1170"/>
                  <a:pt x="17456" y="1197"/>
                </a:cubicBezTo>
                <a:cubicBezTo>
                  <a:pt x="18049" y="1254"/>
                  <a:pt x="18598" y="1369"/>
                  <a:pt x="19116" y="1632"/>
                </a:cubicBezTo>
                <a:cubicBezTo>
                  <a:pt x="19972" y="2068"/>
                  <a:pt x="20668" y="2764"/>
                  <a:pt x="21103" y="3620"/>
                </a:cubicBezTo>
                <a:cubicBezTo>
                  <a:pt x="21384" y="4171"/>
                  <a:pt x="21497" y="4759"/>
                  <a:pt x="21549" y="5397"/>
                </a:cubicBezTo>
                <a:cubicBezTo>
                  <a:pt x="21599" y="6012"/>
                  <a:pt x="21599" y="6768"/>
                  <a:pt x="21599" y="7684"/>
                </a:cubicBezTo>
                <a:lnTo>
                  <a:pt x="21599" y="13655"/>
                </a:lnTo>
                <a:cubicBezTo>
                  <a:pt x="21599" y="13694"/>
                  <a:pt x="21599" y="13732"/>
                  <a:pt x="21599" y="13771"/>
                </a:cubicBezTo>
                <a:cubicBezTo>
                  <a:pt x="21599" y="14493"/>
                  <a:pt x="21600" y="15037"/>
                  <a:pt x="21473" y="15564"/>
                </a:cubicBezTo>
                <a:cubicBezTo>
                  <a:pt x="21361" y="16027"/>
                  <a:pt x="21178" y="16471"/>
                  <a:pt x="20929" y="16878"/>
                </a:cubicBezTo>
                <a:cubicBezTo>
                  <a:pt x="20646" y="17339"/>
                  <a:pt x="20261" y="17725"/>
                  <a:pt x="19749" y="18235"/>
                </a:cubicBezTo>
                <a:cubicBezTo>
                  <a:pt x="19723" y="18262"/>
                  <a:pt x="19696" y="18290"/>
                  <a:pt x="19667" y="18317"/>
                </a:cubicBezTo>
                <a:lnTo>
                  <a:pt x="18317" y="19667"/>
                </a:lnTo>
                <a:cubicBezTo>
                  <a:pt x="18290" y="19696"/>
                  <a:pt x="18262" y="19723"/>
                  <a:pt x="18235" y="19749"/>
                </a:cubicBezTo>
                <a:cubicBezTo>
                  <a:pt x="17725" y="20260"/>
                  <a:pt x="17339" y="20646"/>
                  <a:pt x="16878" y="20929"/>
                </a:cubicBezTo>
                <a:cubicBezTo>
                  <a:pt x="16471" y="21178"/>
                  <a:pt x="16027" y="21361"/>
                  <a:pt x="15564" y="21473"/>
                </a:cubicBezTo>
                <a:cubicBezTo>
                  <a:pt x="15037" y="21600"/>
                  <a:pt x="14493" y="21599"/>
                  <a:pt x="13771" y="21599"/>
                </a:cubicBezTo>
                <a:cubicBezTo>
                  <a:pt x="13732" y="21599"/>
                  <a:pt x="13694" y="21599"/>
                  <a:pt x="13655" y="21599"/>
                </a:cubicBezTo>
                <a:lnTo>
                  <a:pt x="6547" y="21599"/>
                </a:lnTo>
                <a:cubicBezTo>
                  <a:pt x="5632" y="21599"/>
                  <a:pt x="4876" y="21599"/>
                  <a:pt x="4261" y="21549"/>
                </a:cubicBezTo>
                <a:cubicBezTo>
                  <a:pt x="3622" y="21497"/>
                  <a:pt x="3034" y="21384"/>
                  <a:pt x="2483" y="21103"/>
                </a:cubicBezTo>
                <a:cubicBezTo>
                  <a:pt x="1627" y="20668"/>
                  <a:pt x="931" y="19972"/>
                  <a:pt x="496" y="19116"/>
                </a:cubicBezTo>
                <a:cubicBezTo>
                  <a:pt x="215" y="18565"/>
                  <a:pt x="102" y="17977"/>
                  <a:pt x="50" y="17338"/>
                </a:cubicBezTo>
                <a:cubicBezTo>
                  <a:pt x="0" y="16723"/>
                  <a:pt x="0" y="15967"/>
                  <a:pt x="0" y="15052"/>
                </a:cubicBezTo>
                <a:lnTo>
                  <a:pt x="0" y="7684"/>
                </a:lnTo>
                <a:cubicBezTo>
                  <a:pt x="0" y="6768"/>
                  <a:pt x="0" y="6012"/>
                  <a:pt x="50" y="5397"/>
                </a:cubicBezTo>
                <a:cubicBezTo>
                  <a:pt x="102" y="4759"/>
                  <a:pt x="215" y="4171"/>
                  <a:pt x="496" y="3620"/>
                </a:cubicBezTo>
                <a:cubicBezTo>
                  <a:pt x="931" y="2764"/>
                  <a:pt x="1627" y="2068"/>
                  <a:pt x="2483" y="1632"/>
                </a:cubicBezTo>
                <a:cubicBezTo>
                  <a:pt x="3001" y="1369"/>
                  <a:pt x="3550" y="1254"/>
                  <a:pt x="4142" y="1197"/>
                </a:cubicBezTo>
                <a:cubicBezTo>
                  <a:pt x="4437" y="1170"/>
                  <a:pt x="4760" y="1155"/>
                  <a:pt x="5116" y="1146"/>
                </a:cubicBezTo>
                <a:lnTo>
                  <a:pt x="5116" y="1137"/>
                </a:lnTo>
                <a:cubicBezTo>
                  <a:pt x="5116" y="509"/>
                  <a:pt x="5625" y="0"/>
                  <a:pt x="6252" y="0"/>
                </a:cubicBezTo>
                <a:close/>
                <a:moveTo>
                  <a:pt x="5116" y="3421"/>
                </a:moveTo>
                <a:cubicBezTo>
                  <a:pt x="4822" y="3427"/>
                  <a:pt x="4576" y="3440"/>
                  <a:pt x="4358" y="3460"/>
                </a:cubicBezTo>
                <a:cubicBezTo>
                  <a:pt x="3916" y="3502"/>
                  <a:pt x="3681" y="3573"/>
                  <a:pt x="3515" y="3658"/>
                </a:cubicBezTo>
                <a:cubicBezTo>
                  <a:pt x="3088" y="3876"/>
                  <a:pt x="2740" y="4224"/>
                  <a:pt x="2521" y="4652"/>
                </a:cubicBezTo>
                <a:cubicBezTo>
                  <a:pt x="2430" y="4829"/>
                  <a:pt x="2357" y="5085"/>
                  <a:pt x="2317" y="5583"/>
                </a:cubicBezTo>
                <a:cubicBezTo>
                  <a:pt x="2275" y="6094"/>
                  <a:pt x="2274" y="6756"/>
                  <a:pt x="2274" y="7730"/>
                </a:cubicBezTo>
                <a:lnTo>
                  <a:pt x="2274" y="15006"/>
                </a:lnTo>
                <a:cubicBezTo>
                  <a:pt x="2274" y="15980"/>
                  <a:pt x="2275" y="16641"/>
                  <a:pt x="2317" y="17153"/>
                </a:cubicBezTo>
                <a:cubicBezTo>
                  <a:pt x="2357" y="17651"/>
                  <a:pt x="2430" y="17907"/>
                  <a:pt x="2521" y="18084"/>
                </a:cubicBezTo>
                <a:cubicBezTo>
                  <a:pt x="2740" y="18511"/>
                  <a:pt x="3088" y="18859"/>
                  <a:pt x="3515" y="19077"/>
                </a:cubicBezTo>
                <a:cubicBezTo>
                  <a:pt x="3692" y="19168"/>
                  <a:pt x="3948" y="19242"/>
                  <a:pt x="4446" y="19282"/>
                </a:cubicBezTo>
                <a:cubicBezTo>
                  <a:pt x="4958" y="19324"/>
                  <a:pt x="5619" y="19325"/>
                  <a:pt x="6593" y="19325"/>
                </a:cubicBezTo>
                <a:lnTo>
                  <a:pt x="13073" y="19325"/>
                </a:lnTo>
                <a:lnTo>
                  <a:pt x="13073" y="18189"/>
                </a:lnTo>
                <a:cubicBezTo>
                  <a:pt x="13073" y="15677"/>
                  <a:pt x="15109" y="13641"/>
                  <a:pt x="17620" y="13641"/>
                </a:cubicBezTo>
                <a:lnTo>
                  <a:pt x="18757" y="13641"/>
                </a:lnTo>
                <a:cubicBezTo>
                  <a:pt x="18964" y="13641"/>
                  <a:pt x="19158" y="13697"/>
                  <a:pt x="19325" y="13794"/>
                </a:cubicBezTo>
                <a:cubicBezTo>
                  <a:pt x="19325" y="13749"/>
                  <a:pt x="19325" y="13703"/>
                  <a:pt x="19325" y="13655"/>
                </a:cubicBezTo>
                <a:lnTo>
                  <a:pt x="19325" y="7730"/>
                </a:lnTo>
                <a:cubicBezTo>
                  <a:pt x="19325" y="6756"/>
                  <a:pt x="19324" y="6094"/>
                  <a:pt x="19282" y="5583"/>
                </a:cubicBezTo>
                <a:cubicBezTo>
                  <a:pt x="19242" y="5085"/>
                  <a:pt x="19168" y="4829"/>
                  <a:pt x="19077" y="4652"/>
                </a:cubicBezTo>
                <a:cubicBezTo>
                  <a:pt x="18859" y="4224"/>
                  <a:pt x="18511" y="3876"/>
                  <a:pt x="18084" y="3658"/>
                </a:cubicBezTo>
                <a:cubicBezTo>
                  <a:pt x="17918" y="3573"/>
                  <a:pt x="17683" y="3502"/>
                  <a:pt x="17240" y="3460"/>
                </a:cubicBezTo>
                <a:cubicBezTo>
                  <a:pt x="17023" y="3440"/>
                  <a:pt x="16777" y="3427"/>
                  <a:pt x="16483" y="3421"/>
                </a:cubicBezTo>
                <a:lnTo>
                  <a:pt x="16483" y="4547"/>
                </a:lnTo>
                <a:cubicBezTo>
                  <a:pt x="16483" y="5175"/>
                  <a:pt x="15974" y="5684"/>
                  <a:pt x="15347" y="5684"/>
                </a:cubicBezTo>
                <a:cubicBezTo>
                  <a:pt x="14719" y="5684"/>
                  <a:pt x="14210" y="5175"/>
                  <a:pt x="14210" y="4547"/>
                </a:cubicBezTo>
                <a:lnTo>
                  <a:pt x="14210" y="3410"/>
                </a:lnTo>
                <a:lnTo>
                  <a:pt x="7389" y="3410"/>
                </a:lnTo>
                <a:lnTo>
                  <a:pt x="7389" y="4547"/>
                </a:lnTo>
                <a:cubicBezTo>
                  <a:pt x="7389" y="5175"/>
                  <a:pt x="6880" y="5684"/>
                  <a:pt x="6252" y="5684"/>
                </a:cubicBezTo>
                <a:cubicBezTo>
                  <a:pt x="5625" y="5684"/>
                  <a:pt x="5116" y="5175"/>
                  <a:pt x="5116" y="4547"/>
                </a:cubicBezTo>
                <a:lnTo>
                  <a:pt x="5116" y="3421"/>
                </a:lnTo>
                <a:close/>
                <a:moveTo>
                  <a:pt x="18827" y="15913"/>
                </a:moveTo>
                <a:cubicBezTo>
                  <a:pt x="18804" y="15914"/>
                  <a:pt x="18781" y="15915"/>
                  <a:pt x="18757" y="15915"/>
                </a:cubicBezTo>
                <a:lnTo>
                  <a:pt x="17620" y="15915"/>
                </a:lnTo>
                <a:cubicBezTo>
                  <a:pt x="16364" y="15915"/>
                  <a:pt x="15347" y="16932"/>
                  <a:pt x="15347" y="18189"/>
                </a:cubicBezTo>
                <a:lnTo>
                  <a:pt x="15347" y="19163"/>
                </a:lnTo>
                <a:cubicBezTo>
                  <a:pt x="15466" y="19115"/>
                  <a:pt x="15581" y="19057"/>
                  <a:pt x="15690" y="18990"/>
                </a:cubicBezTo>
                <a:cubicBezTo>
                  <a:pt x="15893" y="18866"/>
                  <a:pt x="16081" y="18689"/>
                  <a:pt x="16710" y="18060"/>
                </a:cubicBezTo>
                <a:lnTo>
                  <a:pt x="18060" y="16710"/>
                </a:lnTo>
                <a:cubicBezTo>
                  <a:pt x="18472" y="16297"/>
                  <a:pt x="18690" y="16074"/>
                  <a:pt x="18827" y="15913"/>
                </a:cubicBezTo>
                <a:close/>
              </a:path>
            </a:pathLst>
          </a:cu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r>
              <a:t/>
            </a: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ooter Placeholder 18">
            <a:extLst xmlns:a="http://schemas.openxmlformats.org/drawingml/2006/main">
              <a:ext uri="{FF2B5EF4-FFF2-40B4-BE49-F238E27FC236}">
                <a16:creationId xmlns:a16="http://schemas.microsoft.com/office/drawing/2014/main" id="{A7C685AE-794E-F9C0-C7B3-7E956842DD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92F439-FAFA-E9E4-AA65-F7A04500A7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D2AD91F-EB3C-4F9E-967E-BE0CB5DB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79C989BF-2635-460E-A06F-99354C49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778F3981-1A4A-45F0-9096-A19F3768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研究方法详述</a:t>
            </a: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E8E4CF70-6DA6-4B8B-A1CE-8921AA98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57BCD602-89AA-4DE6-87E7-EDF3F718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E82E8058-52F8-4CA0-B694-8E313A24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079CB7E4-E0E7-44DB-A482-071BF7EB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9122EF60-E14E-45AD-9ED3-40F5A82E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686520E9-49A4-49CD-BBBB-9D715AFB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65030194-A7C3-45A2-BB39-64A8470B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6E39C5B4-77E5-40FF-9561-2648ADE4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458CF7B4-6830-4192-92A6-9757CCDA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定量研究示例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3483761-8FE7-4199-BD71-F9BFF2C4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模型：Yᵢₜ = β₀ + β₁Xᵢₜ + γCᵢₜ + μᵢ + λₜ + εᵢₜ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说明估计方法、固定效应、聚类层级与缺失值处理。</a:t>
            </a: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1749A33D-A5BD-49B6-9EAA-87B2AD4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定性研究示例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D413D914-A1FA-488C-9DB1-AECB6AA0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238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材料：访谈 / 档案 / 观察记录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分析：编码框架、主题归纳与案例对照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质量控制：饱和度、三角互证与研究者反思</a:t>
            </a: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1BC892CF-791B-4FF9-8848-1F6B988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02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提示：根据学科规范保留一侧内容，另一侧可改为补充说明或流程图。</a:t>
            </a:r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CCF163C-9756-483E-80A5-645C8BEC182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76040"/>
            <a:ext cx="5537200" cy="38183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5C5E084-8166-473E-8957-404631D2B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76040"/>
            <a:ext cx="5537200" cy="38183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41400"/>
            <a:ext cx="11404599" cy="845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108F51E-186E-4813-B5D0-7EFDEF9F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545FE86-F588-47A3-A125-3ECF03DF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ED75828-3A80-4E96-8D73-FF740B8C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双图对照版式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7F7E36D3-45D8-4CCF-AF62-26D5AA99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A3E8F2C-F0A9-421B-BE23-60F25F8D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7E22224-E1E8-4A0F-A76D-1BFA3631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EEDFD8C-68CD-4F0E-BE07-462C868E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6A0CCD8-5C1D-4599-8F79-6CB67F4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8B832139-BE4A-4B7E-B8DD-7E9DF808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836D40F-E4DB-4D2D-92D8-1277248E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0FD4DB6-E2F2-4408-B6CE-08AEA8E8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A1974475-4040-41A5-8C78-029154FE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适合呈现处理前后、两类样本、两种模型输出或不同案例的并列比较。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329B634D-DFB1-4FF9-9B3A-2DF8385B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113E7808-9F1E-4248-B870-F70EF63E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0F88964-E272-4831-8437-2F7966F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左图：基准组 / 处理前 / 案例 A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15C96F7C-351A-4481-AC9E-9E6C9F0D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图题：说明对象、时间与来源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4ACB56C-44EC-4526-903A-A1853DE7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238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1EA41B5C-4837-4673-B3E2-3C65BD0F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33725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ADDB944-8152-427A-B371-DCEC05F1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右图：处理组 / 处理后 / 案例 B</a:t>
            </a: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B4DA7EBF-F5CC-4203-AC79-F220818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图题：说明对象、时间与来源</a:t>
            </a:r>
          </a:p>
        </p:txBody>
      </p:sp>
    </p:spTree>
    <p:extLst>
      <p:ext uri="{BB962C8B-B14F-4D97-AF65-F5344CB8AC3E}">
        <p14:creationId xmlns:p14="http://schemas.microsoft.com/office/powerpoint/2010/main" val="181276321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DAACD4F-B550-386A-338E-96511960A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5025A11-4CFC-3DAD-DA4D-167D090F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1054100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99A2D71-41FF-1674-15C6-8AF76E98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1317497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B4B76E-7D44-10FB-7578-2D01A397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2195285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7F86C9D-8471-77AD-E279-155712DF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797299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38D10E-43F8-FA5D-F1B1-10ADB58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060696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01AFD65-CE2B-0AE8-8D43-B2EC3F63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938484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4B2D712-3C15-6BFD-7D59-4BB690DD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970" y="1054100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4763959-3346-CF48-2A6A-6F12BE7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1317497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21A4634-A669-4972-C24C-516C5F0F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2195285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895B4A3-EE6A-858D-AEC7-4EE0313E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970" y="3797299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5F9C50-3A40-C713-DB6E-42BF96FF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4060696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19F2123-F7EB-E995-0D2D-C04283E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4938484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0E8F0F0-523F-39E7-A1B9-1A75D1F801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4375833-EB2B-2A86-E6AA-2B70E50646D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607F92D6-DC3D-4390-B3CA-C5EAA327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C661695-2CB1-4065-9609-E0AD7C98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8F4F818D-D1AF-48AC-93D0-D0BB43E2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四图矩阵版式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8C92ACB-1B3A-463F-B2FC-2CB18E89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A5D6E21-A6DC-4E11-B2BF-16019F5F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3508338-A88E-42F6-ADE7-26B4612C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CF6DC70-6138-475C-AA89-981EAED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3E53D98-9235-46AF-8D3B-830F1DF9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EA99962-6F3D-4E05-A9EE-0435FE33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75341DE-591B-4BF7-BBB8-16050EC1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27781CE6-8CFC-40B3-BDDA-A3D7319F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4D53193E-CEC4-48E5-90D7-6509DDA7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11EB119-363F-4F12-961F-6042ABB8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4538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9CBA903-C492-4684-B871-43C046A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9813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子图 A：填写条件或样本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C1CA59C-295A-40DE-82E7-3B720978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简短图题 / 数据来源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8F31F91-3106-42C8-B667-19B41FE7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8B72195A-8DA0-4BBD-B89B-3EFA760D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4538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E149A15-3421-404C-95A4-E02E0FD1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9813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子图 B：填写条件或样本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962D699B-164B-4EFF-B858-3BFA890E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简短图题 / 数据来源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5842B8AE-36AA-461E-B1A5-F1D533FB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3B3765D-C32E-442F-BD2F-0D6764D5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8163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C0D4C71C-143D-4A18-85A7-020D7E77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3438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子图 C：填写条件或样本</a:t>
            </a: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E81FAB19-164B-4413-8B2A-282F57AD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5782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简短图题 / 数据来源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CC19DDB2-FA9A-4459-AF88-E7EF8AD8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238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D094952D-BB81-4D2F-8BC1-561B62A3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8163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2921F032-8508-4BD3-9FC9-C119B11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3438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子图 D：填写条件或样本</a:t>
            </a: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9CF26052-CA54-4DBE-9672-5D83BF01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5782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简短图题 / 数据来源</a:t>
            </a:r>
          </a:p>
        </p:txBody>
      </p:sp>
    </p:spTree>
    <p:extLst>
      <p:ext uri="{BB962C8B-B14F-4D97-AF65-F5344CB8AC3E}">
        <p14:creationId xmlns:p14="http://schemas.microsoft.com/office/powerpoint/2010/main" val="36915195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1329A0D-D288-4ABB-B453-147AB75D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9A1D39A-6C66-44AC-B8CF-0788F72A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BAD357D-B5B4-4AAE-9D48-01A599D7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样本分组与比较策略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42D1048-78B4-4012-9A5C-CF2CF555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14EAB70-51B8-4BB6-8F0B-87A28303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7CC82084-4FF8-4654-880E-1BBF2D21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1A002A0-25C4-4895-897B-7B176B9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97067D1-297E-4CD7-8125-C7EABD70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E3B8ED1-B5F6-448F-985D-EBB62B8B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E10A9D02-C611-4672-AAE3-1BDB67F5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38F0D138-2B2E-4809-9D8A-3379910C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12CFCC9B-F233-423E-BA21-9E58F493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先说明总体样本，再解释分组标准。两栏适合比较实验组与对照组、案例 A 与案例 B，或两个时期。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68F8F651-6215-497A-A253-2BA36A87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38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93D9066-F250-48FA-97FE-20C72290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组别 A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6A9065D-0EFA-4609-8353-D446EBB0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样本定义：……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样本量：n = ……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关键特征：……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预期差异：……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4761FAF-CAEB-4115-BAA7-0E1277B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238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2A7D9BD-7F84-4817-9494-C4E1A019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组别 B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4D9D06C-EB25-4CDC-924B-DC9C46A3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样本定义：……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样本量：n = ……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关键特征：……</a:t>
            </a:r>
          </a:p>
          <a:p xmlns:a="http://schemas.openxmlformats.org/drawingml/2006/main">
            <a:pPr algn="l">
              <a:def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预期差异：……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graphicFrame>
        <p:nvGraphicFramePr>
          <p:cNvPr id="54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变量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样本量 N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均值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标准差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取值范围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因变量 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1,200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0.18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0.00–1.00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核心变量 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1,200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3.46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1.12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1.00–5.00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机制变量 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1,180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2.91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0.86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1.00–5.00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控制变量 C1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1,200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8.37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2.10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1.00–12.00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控制变量 C2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1,200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0.44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 / 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分组变量 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1,200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 / 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时间变量 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1,200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20XX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20XX–20XX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说明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示例数据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仅用于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展示版式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请替换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ABD6280-D06B-44A5-83D0-59D0B7AF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0DECE72E-C676-4CC1-BCAB-3337533F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描述性统计与样本特征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149638F-786B-40C9-98D6-27CBA2BD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5E6C957-3B43-4B3D-8208-63EE1CE7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2EFD8EB-7DEF-469E-A1CD-097B87AA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D4351D9-6884-4C9B-9D09-858E8F78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40FEA813-CD66-410D-A080-7599E25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99C3345-9511-40F8-9655-3A38F6C3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8D02451-4D79-4CB9-91D6-510FEA4B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9A5179B-F9CE-4D22-B2BB-529C853A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561780CB-8ED6-46B8-8550-57C1EF95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示例表格为原生可编辑对象。请替换变量、单位与统计量，并在表下注明显著性或数据来源。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graphicFrame>
        <p:nvGraphicFramePr>
          <p:cNvPr id="547" name="Google Shape;953;p80"/>
          <p:cNvGraphicFramePr/>
          <p:nvPr/>
        </p:nvGraphicFramePr>
        <p:xfrm>
          <a:off xmlns:a="http://schemas.openxmlformats.org/drawingml/2006/main" x="393699" y="1379875"/>
          <a:ext xmlns:a="http://schemas.openxmlformats.org/drawingml/2006/main" cx="11404600" cy="46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614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文献与问题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数据收集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模型分析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论文写作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修改答辩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rgbClr val="0B376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anchor="ctr"/>
          <a:lstStyle xmlns:a="http://schemas.openxmlformats.org/drawingml/2006/main"/>
          <a:p xmlns:a="http://schemas.openxmlformats.org/drawingml/2006/main">
            <a:r>
              <a:rPr sz="1600"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rgbClr val="0B376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anchor="ctr"/>
          <a:lstStyle xmlns:a="http://schemas.openxmlformats.org/drawingml/2006/main"/>
          <a:p xmlns:a="http://schemas.openxmlformats.org/drawingml/2006/main">
            <a:r>
              <a:rPr sz="1600">
                <a:latin typeface="Helvetica Neue Medium"/>
                <a:ea typeface="Helvetica Neue Medium"/>
                <a:cs typeface="Helvetica Neue Medium"/>
              </a:rPr>
              <a:t/>
            </a:r>
            <a:endParaRPr sz="1600"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rgbClr val="0B376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anchor="ctr"/>
          <a:lstStyle xmlns:a="http://schemas.openxmlformats.org/drawingml/2006/main"/>
          <a:p xmlns:a="http://schemas.openxmlformats.org/drawingml/2006/main">
            <a:r>
              <a:rPr sz="1600"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rgbClr val="0B376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anchor="ctr"/>
          <a:lstStyle xmlns:a="http://schemas.openxmlformats.org/drawingml/2006/main"/>
          <a:p xmlns:a="http://schemas.openxmlformats.org/drawingml/2006/main">
            <a:r>
              <a:rPr sz="1600"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rgbClr val="0B376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anchor="ctr"/>
          <a:lstStyle xmlns:a="http://schemas.openxmlformats.org/drawingml/2006/main"/>
          <a:p xmlns:a="http://schemas.openxmlformats.org/drawingml/2006/main">
            <a:r>
              <a:rPr sz="1600"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rgbClr val="0B376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82880" anchor="ctr"/>
          <a:lstStyle xmlns:a="http://schemas.openxmlformats.org/drawingml/2006/main"/>
          <a:p xmlns:a="http://schemas.openxmlformats.org/drawingml/2006/main">
            <a:r>
              <a:rPr sz="1600">
                <a:latin typeface="Helvetica Neue Medium"/>
                <a:ea typeface="Helvetica Neue Medium"/>
                <a:cs typeface="Helvetica Neue Medium"/>
              </a:rPr>
              <a:t/>
            </a:r>
            <a:endParaRPr sz="1600"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CB23F3E-E49B-47F1-F25C-67F100FD16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B15DC13-6097-48A6-B3F2-ACF9D048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3B1157C-4E68-4E0D-9722-A39B8EA3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研究实施计划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5995D68-0885-4879-A379-30CC454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C3CC5F2-1ADD-4A85-889B-D025AC32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C186603-D525-4402-BEDA-0AABE0B4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0E8A8B5-DC11-4070-8159-C5A28DDB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CAEF604-49AF-414C-A1D0-6A7DD8C1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48DC8DE-572B-450C-99E7-D8760B64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CA791F4-797E-4FBC-A0FD-5A36B650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B5DF2FD-4F3D-4480-8ED3-7F475D20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F4C8B77-C334-4F71-A17D-EDB7491F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将任务条拖动到对应时间段，可改为月份、季度或研究阶段。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cxnSp>
        <p:nvCxnSpPr>
          <p:cNvPr id="4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AED85-9522-4A23-A6A4-935FCBF7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754C9-4081-4478-B93B-E9372562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F95AA-94C8-49F5-AAF6-58ED4E8D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分析流程的三个阶段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F0CBA-2566-44F3-892F-5F030262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7347B-6F5A-4646-938B-5B5B6733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E7FFCA-8CB0-483F-820D-DB2FFEB9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57835-AD3E-4FE0-A626-8B4B01FF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8BE7A-7DE4-4312-84EA-83EF338A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320129-E739-4BF4-AAE6-72CF3257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ADC7DA-91D7-49D9-A359-6497725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89045-9FB7-4121-92A4-BDCFA16F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C3E74C-EC5B-4E9F-800B-2A059B17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528DDB-E381-46C5-8041-A0ECE93D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E7DC7-EE4B-4D7A-A60F-E5004BAC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81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D95473-0B73-4150-BF50-30010CA1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48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数据准备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A120E7-FFE6-4EE1-AA49-287B7EA5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43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清洗、编码与预分析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2DE7F1-D82A-4F1D-986C-CB63C13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E49171-96BC-4D05-BC08-C16DB25E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1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3445C5-B392-4E5A-93B8-1774BC0F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48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核心分析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A0943D-1EF2-4536-A7D7-74DAA1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43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基准结果与识别检验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50BC84-5D5D-497F-8674-D8A2B4B2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8239C7-156F-4AFB-84D8-B72AD8E0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0D3CF1-A12A-4D15-B4B2-5BB46A60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48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拓展分析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D4D01B-AFA7-4CF4-8DA1-0D8B777D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43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机制、异质性与稳健性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D963F05-59C0-B501-D15E-3C6B8AAC1F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2388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2708524"/>
            <a:ext cx="2949339" cy="10935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2392388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2708523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2392388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2708523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5B77A898-DA2F-4B04-9E83-9658044A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0452" y="3987542"/>
            <a:ext cx="2432" cy="640929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AA9D6F9F-2033-B55E-020F-9D9CC87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58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09C33D-5630-C27C-C1AE-F60A9FB8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4672236"/>
            <a:ext cx="2949339" cy="10935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601EDC4F-645B-5208-5A2D-CB854CDE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4356100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6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3F013F15-10B5-454B-F71C-A4F07D11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4672235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7A6CB05F-986E-7BF0-DBA3-6DBB7F4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4356100"/>
            <a:ext cx="3568700" cy="159515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62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F756CED3-B055-A43F-881D-DD3AE0C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4672235"/>
            <a:ext cx="2949339" cy="1093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6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9F246653-C148-88C9-9283-2754FF39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47685"/>
            <a:ext cx="3568700" cy="6843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7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CBD7303B-5E68-9B10-FF89-8C5EE8EB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347685"/>
            <a:ext cx="3568700" cy="6761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8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C5E2B8D5-C4EB-431F-AF0C-121F9CD7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1347685"/>
            <a:ext cx="3568700" cy="6761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50D352-241D-4989-909E-89C71A1C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673A99-F36A-4E20-AFBE-5E427575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8B8AF2-9352-4C96-A192-8C56E81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案例材料与质性证据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A593E38-40BD-4E2F-9A06-902DFF58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90B4B4-5C95-4E96-A1BE-F0EC9336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C1AFA0-B12A-4A05-8470-D5AD86C9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694B25-5C14-4C57-AEC3-A43F935F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573A44A-A1E0-48AE-A1E2-B0E3B7AD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27BA68-D74C-4535-A1EE-DFDDE8C0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1FD1A74-78E9-4F6B-9F16-0C3E4057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9154EA-CEE7-4A7D-BE2F-1D8AE46B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30E6BC4-CCE5-4C45-9B19-387DDB3D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27"/>
          </a:bodyPr>
          <a:lstStyle xmlns:a="http://schemas.openxmlformats.org/drawingml/2006/main"/>
          <a:p xmlns:a="http://schemas.openxmlformats.org/drawingml/2006/main">
            <a:pPr algn="l">
              <a:def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2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三张材料图可对应不同阶段、不同案例或不同证据来源。上方简述选择逻辑，下方用一句话解释每张图与论证的关系。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E35257F-5D5F-42B9-8660-22B46E6B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539523-2D26-4D90-9B7E-61AA73A0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1788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9DB9A80-CF48-4183-BAE0-88DB2CB4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7063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证据 A：访谈 / 档案 / 截图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481F99-1539-449E-8741-428F4471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148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证据与论点的对应关系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1DE9A2F-9840-412A-A617-1FD1D8F1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0500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D0191F7-62A2-47D1-99F5-92DB5B7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71788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E7D175A-57D3-44FF-A4CE-B008DE3F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67063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证据 B：场景 / 过程 / 对照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2E45C9-C250-43DC-AD6F-90D920D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148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证据与论点的对应关系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8EB43F5-DE79-4B3C-AC1C-9D661510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0A7BA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2FD4E5C-F813-4518-B9F7-1F9E9AD5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1788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EB07297-4D88-47EF-AE6A-848897F2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7063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证据 C：补充材料 / 反例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1B4377-2BEB-4BDB-B16F-A462B696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148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证据与论点的对应关系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2E36C81-5801-B2BE-01AA-D802EF7CA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02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3642A94-5293-AA67-B826-5BD0DE5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3962400"/>
          </a:xfrm>
          <a:prstGeom xmlns:a="http://schemas.openxmlformats.org/drawingml/2006/main" prst="roundRect">
            <a:avLst>
              <a:gd name="adj" fmla="val 180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6AC358-F5F5-46E1-3A28-330B5B7F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557" y="2032000"/>
            <a:ext cx="2597343" cy="3962400"/>
          </a:xfrm>
          <a:prstGeom xmlns:a="http://schemas.openxmlformats.org/drawingml/2006/main" prst="roundRect">
            <a:avLst>
              <a:gd name="adj" fmla="val 179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27EDC79-B9FD-D75C-F5E0-8650415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032000"/>
            <a:ext cx="2581975" cy="3962400"/>
          </a:xfrm>
          <a:prstGeom xmlns:a="http://schemas.openxmlformats.org/drawingml/2006/main" prst="roundRect">
            <a:avLst>
              <a:gd name="adj" fmla="val 270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FAFF379-8A28-CAB1-B1D0-F7E83A8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957" y="2032000"/>
            <a:ext cx="2597343" cy="3962400"/>
          </a:xfrm>
          <a:prstGeom xmlns:a="http://schemas.openxmlformats.org/drawingml/2006/main" prst="roundRect">
            <a:avLst>
              <a:gd name="adj" fmla="val 2984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DC86A8A-FBA6-FD14-99C2-1C4C5D6609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2414155"/>
            <a:ext cx="2145400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88605DFA-C810-BB6C-3C24-829EC7D9332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555921" y="2414155"/>
            <a:ext cx="2149303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92FDC1FF-2A9F-386F-4FAC-628138F5E29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489680" y="2414155"/>
            <a:ext cx="2145400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5C2F1B00-B28B-9F1D-8CDD-3C4B2DE34D3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426634" y="2414155"/>
            <a:ext cx="2149303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813AAE-3B9F-21FA-95B9-CBD6F80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9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FE99CB3-C543-5212-C2B6-D8E01565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774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1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6BEB40B-1BEE-A21D-D3BE-79B2C975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849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01569E6-593E-BC39-9E85-17656D6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937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F79DC580-131D-75FB-A6FF-8B8F199532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3D8131C-4637-3473-C20E-BA4F59F911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C9BBA-7DF1-466B-BE40-45117D18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D2747-0CC6-4A64-9F13-D296DA04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AD8"/>
          </a:solidFill>
          <a:ln xmlns:a="http://schemas.openxmlformats.org/drawingml/2006/main" w="9525">
            <a:solidFill>
              <a:srgbClr val="B8CAD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8EA24-F1D8-43FD-9D9E-C1CC46B7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584295-C61D-4486-9571-8DA08BC9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8625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3161C-D1C3-43A0-8FC8-BEE33D7D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5320"/>
            <a:ext cx="6667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67ACE-D557-442E-92D1-D2866D1E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rPr>
              <a:t>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940BBE-52AE-4B70-9F31-E92A2BB1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5735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实证结果与机制分析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014E8-1C05-4AD7-860E-C63F28C6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6860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rPr>
              <a:t>先呈现核心结果，再展开机制、异质性与稳健性检验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418AD6-39D5-4E38-B7B6-C930F73A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52609290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052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5985" y="6056248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568653-ACE5-47A5-83CE-C7925E71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graphicFrame>
        <p:nvGraphicFramePr>
          <p:cNvPr id="73" name="Chart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5191125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10041ed4124675"/>
          </a:graphicData>
        </a:graphic>
      </p:graphicFrame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6B5BB3-6235-4E02-8F59-FDDB77FD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667797-14EA-4507-9586-AEEE2413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核心结果：组间差异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B72008-2EB3-42FA-B298-923D30E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F34427-7474-4547-9D41-10DF3C81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EF8812-C2A4-4405-A8B3-DE341A09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5D3C91-6F42-47B9-AFA4-1ED4AF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112603-F817-454E-903A-C629C30B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68990D-6D5D-4381-8363-5B74A04A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59B02A-DFFA-47B2-8F2D-FF0558C3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FC131E-B033-43A4-9063-6C63CA4D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2A9315-F8C0-43E7-8E3D-F14A4022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柱状图适合比较类别之间的均值或效应量。右侧保留结论、置信区间与模型说明。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798D29-AEF7-4727-9F57-C6824D8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结果说明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61E3E3-87BF-4761-9F1A-64089C1E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24288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DD6C93-7618-4045-8F57-881C0E7F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718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主要发现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C23A95-77D8-4C48-AB12-F6D6D44D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14725"/>
            <a:ext cx="2047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概括效应方向、变化幅度与关键时间点。替换示例文字时，保留最需要听众记住的一项结果。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67D24D-5DA6-4129-9A7B-8A5C63AB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24288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42A665-BD4C-480B-8CE7-42F4B595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718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报告边界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E2F8BA-7715-4617-B17F-2B41C51D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14725"/>
            <a:ext cx="2047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说明样本范围、置信区间和模型口径。若存在替代解释，应在此处简要交代。</a:t>
            </a:r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EC22377-6A13-05D7-1E02-074A373A36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8BC70A-434D-4359-95C1-2E1EC396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graphicFrame>
        <p:nvGraphicFramePr>
          <p:cNvPr id="75" name="Chart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5191125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33f824e4c643c8"/>
          </a:graphicData>
        </a:graphic>
      </p:graphicFrame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F998FD-C04B-4421-86F5-B445D98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AA66D8-F887-46C8-9A7B-A5226281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核心结果：趋势变化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755B40-8031-4EA5-9E7A-88F9FCB8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E6BD96-5FB2-4DAD-B983-37A58D71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BD92CC-3045-4712-8448-11A1EBBE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5BC3F1-91CF-4845-BE8F-2BB8BC8C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D490FF-9399-41DC-B62B-F6A08EBA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66949A-B35B-469E-B2AC-0BB559AC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7744CC-D02C-4895-84BF-158BD076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3813D7-4E16-429C-A886-1F398EDB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F494E7-F903-4360-A2AE-EE5A21CF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折线图适合展示时间趋势。图中应标明事件发生时间、置信区间或样本口径。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61549B-2084-413B-8620-4743252C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结果说明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C273DF-4EA6-43EB-9213-5C0E30B7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24288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04D4F3-13B6-4098-8904-6A39926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718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主要发现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A2B828-7EFF-4353-8A8B-D3EB019E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14725"/>
            <a:ext cx="2047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概括效应方向、变化幅度与关键时间点。替换示例文字时，保留最需要听众记住的一项结果。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DB053A-BDC0-4438-856B-26DCCCB2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24288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AA4359-1E5E-4BE4-B3F2-7F41F731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718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报告边界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AAFF1C-DBF8-4F65-9A50-D39D3971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14725"/>
            <a:ext cx="2047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说明样本范围、置信区间和模型口径。若存在替代解释，应在此处简要交代。</a:t>
            </a:r>
          </a:p>
        </p:txBody>
      </p:sp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613FBFDF-16BF-0D53-2A1B-04B010762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1617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AE798CC-FC9E-8FD6-B40A-60BD9A43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CB39FDF-C879-3F75-4B5B-F3AB960C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38DC2B0-2494-42A8-504F-21F6B5C2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2C5D82D2-ECA3-145C-27B1-5F3350F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A1700D6-925B-7147-7F15-10B86FF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A94CC6B8-25E6-8162-65F2-80B98D57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BA3B42E8-D95D-2A62-C083-D42B795A270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2738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17E872BE-BC27-5A5B-4EE0-6DC41C826A3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CE22FB-1A39-4A0D-9F28-731D52A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graphicFrame>
        <p:nvGraphicFramePr>
          <p:cNvPr id="73" name="Chart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5191125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4bb6fa0d174113"/>
          </a:graphicData>
        </a:graphic>
      </p:graphicFrame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A429B1-120E-49B0-9BD9-A51EB73F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812D3F-086B-4D1D-AB86-C994AE0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机制检验：边际效应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5C6F7C-0CD3-4D9D-9322-79B9BD34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836C43-D941-4430-9116-373E6FE0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A9A7E0-A538-4B65-A9D2-1775A87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957317-93A5-4C8B-A300-7C8FA6D0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701606-D604-480C-A569-21897B1E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D1C775-C814-4061-8A3A-BBADAD40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BACFEE-A4D0-4339-A5F0-5962271E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D14619-ED2D-403F-80E2-CAAF2B35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DB057D-83E7-4B44-A596-8CE43F69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曲线或散点图适合展示非线性关系。避免仅凭视觉判断，补充估计值与不确定性。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9631CB-27AA-4A67-8377-235389E3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结果说明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8F1E2A-6BFE-45B3-9AC4-A1B623FB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24288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1C08FA-6D72-4114-86E3-A8D2AEAE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718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主要发现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F608D5-A749-4674-95A2-3CFDFA2A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14725"/>
            <a:ext cx="2047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概括效应方向、变化幅度与关键时间点。替换示例文字时，保留最需要听众记住的一项结果。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0AFD5B-8F9F-4FCB-B598-281DEB11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24288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B88E47-1B22-4142-93D3-E86FC95D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718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报告边界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AC0F9D-9CF5-4905-85DD-AA6893A9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14725"/>
            <a:ext cx="2047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说明样本范围、置信区间和模型口径。若存在替代解释，应在此处简要交代。</a:t>
            </a:r>
          </a:p>
        </p:txBody>
      </p:sp>
    </p:spTree>
    <p:extLst>
      <p:ext uri="{BB962C8B-B14F-4D97-AF65-F5344CB8AC3E}">
        <p14:creationId xmlns:p14="http://schemas.microsoft.com/office/powerpoint/2010/main" val="43184246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937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688632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8153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7646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E58DFF-75F8-2885-5AD9-7156F19CF35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0EC0326-1935-4027-8508-3DFEAA31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graphicFrame>
        <p:nvGraphicFramePr>
          <p:cNvPr id="566" name="Chart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5191125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41326cefca456d"/>
          </a:graphicData>
        </a:graphic>
      </p:graphicFrame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4EC65AEE-D4E9-43BE-956B-62D79217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5995A85-3C34-4425-81E0-5A7A752D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稳健性检验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2AE03DA-70D3-483E-BAF0-E33F2A6C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D9BE44A-69D7-4B75-8186-45B8B9EE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CBEE0D9B-254D-4956-A674-11BDFF81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6C892BD2-6BD8-4400-8A0E-5254164E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E100BEE0-2DE6-482B-99EC-B7F85D1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E6E147A-497D-468D-9F74-60EB2466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6F67B26-3789-4739-B2E7-9A42DCE4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7FD2A06D-0CA2-4415-9A92-C67A022B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A6C9589-DBFE-4850-AA6D-FA5E21AF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906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将不同模型设定并列，说明核心系数的方向、量级与显著性是否稳定。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C49E34DD-BCEE-42DE-9068-8BCFA6F2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6D7F38A-5E9A-41FA-ADF1-2F5A53B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基准与替代变量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3B76F1DC-DFFA-4742-8956-27081629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核心系数方向一致，量级接近。正文中应报告估计值、标准误和显著性水平。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B34B2F7-8916-4B41-8A21-EAB0DCC4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A4D7D0F-BBAD-4EF1-BBA5-7EBF0B0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147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样本与处理方式</a:t>
            </a: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07B0D78D-6223-41CE-9C15-B56D04A8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说明缩尾、匹配或样本筛选规则，并比较处理前后的样本范围与关键特征。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C61EB1B-C5C0-436E-A143-1B7637BF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504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20D3C9E4-D622-4220-B90E-90902E64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482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安慰剂与边界检验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C77488CF-30B5-4F2C-84F7-9E974FC4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安慰剂结果应接近零。若结果偏离预期，需要说明识别假设可能受到的影响。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8F52456-F75C-B2FE-6F65-55BF4CD09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083A7E-FB02-6980-1ACB-51927A1B24A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A5B219-39E0-D9D9-5794-FED4436FF1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7192A21F-0BA1-4B2F-B32A-F20B7A03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-123568"/>
            <a:ext cx="0" cy="7129849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tx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106B58F-5B8D-4C32-8E8D-CBD903A8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graphicFrame>
        <p:nvGraphicFramePr>
          <p:cNvPr id="554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52863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64724b5663494b"/>
          </a:graphicData>
        </a:graphic>
      </p:graphicFrame>
      <p:graphicFrame>
        <p:nvGraphicFramePr>
          <p:cNvPr id="555" name="Chart"/>
          <p:cNvGraphicFramePr/>
          <p:nvPr/>
        </p:nvGraphicFramePr>
        <p:xfrm>
          <a:off xmlns:a="http://schemas.openxmlformats.org/drawingml/2006/main" x="6191250" y="1428750"/>
          <a:ext xmlns:a="http://schemas.openxmlformats.org/drawingml/2006/main" cx="52863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a602479b114443"/>
          </a:graphicData>
        </a:graphic>
      </p:graphicFrame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7C5A6A3-F543-499C-B729-D027543E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D48FED6-B3BC-4B5D-95FA-5AC82776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异质性与补充结果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1637C2E-4DD0-4480-8645-A4FC1455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1E6DEC0-A17B-48C6-B2B8-C884457B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E751321-7C9A-42E5-A2E7-906DD99C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FF467F6-BD79-4C0A-9AD2-01C7E7D2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5E951EE2-D017-473D-8F05-E8C8B8A1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F5B9DB80-E285-4D63-83A6-420F42D7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06234AA-2606-4AF5-B4AF-A9EAD5B1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76487DA-9461-4B9C-92BA-A3B1972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075F053-3AE6-44CB-8AF9-BBD2592F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763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双图并列适合展示分组差异或两种结果变量。保持坐标尺度与单位可比较。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C6BDB97D-C3C7-4F1C-80A0-968C83DB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19250"/>
            <a:ext cx="1714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  <a:p xmlns:a="http://schemas.openxmlformats.org/drawingml/2006/main">
            <a:pPr algn="ct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</p:spTree>
    <p:extLst>
      <p:ext uri="{BB962C8B-B14F-4D97-AF65-F5344CB8AC3E}">
        <p14:creationId xmlns:p14="http://schemas.microsoft.com/office/powerpoint/2010/main" val="33545212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A154B8-3F12-4C0F-959B-8AC6905B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B1BA35-A0AF-4849-900F-70A78B37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AD8"/>
          </a:solidFill>
          <a:ln xmlns:a="http://schemas.openxmlformats.org/drawingml/2006/main" w="9525">
            <a:solidFill>
              <a:srgbClr val="B8CAD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4E16E0-A69B-455E-A0FF-4DF7848D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B2A912-99D0-4105-AA14-B3AA3BB9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8625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3C1E04-C7CB-41E0-89D1-EC5EA851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5320"/>
            <a:ext cx="6667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2BB272-2DA9-43D1-8BE9-5449A2A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rPr>
              <a:t>四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375299-978B-4EB5-A3C4-6D93A3CB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57350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结论、局限与展望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96B004-94ED-4A79-847E-F4735AE6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6860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rPr>
              <a:t>回到研究问题，概括证据边界，并提出可执行的后续研究方向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0393BF-D68E-423D-91AC-A00628F9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C9D8E4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554174"/>
            <a:ext cx="2949339" cy="81867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554174"/>
            <a:ext cx="2949339" cy="81867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554174"/>
            <a:ext cx="2949339" cy="81867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279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72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72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72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15" name="Footer Placeholder 14">
            <a:extLst xmlns:a="http://schemas.openxmlformats.org/drawingml/2006/main">
              <a:ext uri="{FF2B5EF4-FFF2-40B4-BE49-F238E27FC236}">
                <a16:creationId xmlns:a16="http://schemas.microsoft.com/office/drawing/2014/main" id="{2A6376E7-C0FC-2608-D121-2037E3C1CD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285ADF-608D-E057-1D6B-3F7AD81076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39776-797E-4256-ABEB-A0DEC19D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2574F-356D-4A23-9F64-CF6409F4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F49CC-2AB6-4BA5-B721-445469B1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3BB14-CEA9-44DE-A00B-40A8901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第四部分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18102-ED06-4A87-A202-01CFC1E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66C2C-1111-4695-818A-4C2C1705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D0824-6D7B-4199-97B4-D84FEBA4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7DE4C-A14C-4B29-9788-097D9E51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BD292-5D97-4309-AB33-5FE9846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DCC57-13EA-4D83-BC61-634782B2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80B230-FC0A-4849-A1C4-5D918CE9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20F2B-FA48-4FC3-868B-679FBF0E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FB751-6DDE-44FA-BAA2-FC652A0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907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5C1BD-B53D-4572-9252-AB117070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核心发现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E1E94D-631C-4AB8-ABB6-361B85D7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1942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用一句话回答研究问题，并报告方向、量级与适用范围。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7D267-788C-492B-AA4B-38199D6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FF8621-DDF6-484C-833B-EF430EC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907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A9A87E-9FE0-440E-815B-0D4AB3F9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05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机制解释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E7204F-3D40-4644-BF6B-7AEB9D87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1942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说明证据支持哪条作用路径，同时保留仍无法排除的解释。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484A11-CB11-4BA2-9195-48DB14CC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5052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3C4E50-925E-42B0-848F-D98CEB3B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907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97C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533363-400B-4336-BDD2-3B402405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05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边界条件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0C3371-9D1C-4CC9-A1F3-6F88177B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1942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指出结论在哪些样本、时期或制度条件下成立。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DF09FF-2D6A-41D7-B297-DAB15276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结论页不重复结果页的全部数字，只保留听众需要记住的核心信息。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8"/>
            <a:ext cx="7493001" cy="10402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402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1402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1402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25" name="Footer Placeholder 24">
            <a:extLst xmlns:a="http://schemas.openxmlformats.org/drawingml/2006/main"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100"/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1590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3471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2509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3471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2509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3471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2509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256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0256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0256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2326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1363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2326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1363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2326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1363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Slide Number Placeholder 13">
            <a:extLst xmlns:a="http://schemas.openxmlformats.org/drawingml/2006/main">
              <a:ext uri="{FF2B5EF4-FFF2-40B4-BE49-F238E27FC236}">
                <a16:creationId xmlns:a16="http://schemas.microsoft.com/office/drawing/2014/main" id="{1DD23EE5-5C87-3C71-2A21-882A4B8494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18624E-ABC8-402E-9EF0-96837D5D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2192000" cy="598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E9D91-CF11-4CB7-8F4B-B910A0E1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4AB75C-3DD0-432C-B01D-BC87B6EF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贡献、局限与研究展望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B0BB88-1B29-42FB-83EC-E0C1EC1B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DA3B4"/>
                </a:solidFill>
                <a:latin typeface="Microsoft YaHei"/>
                <a:ea typeface="Microsoft YaHei"/>
                <a:cs typeface="Microsoft YaHei"/>
              </a:rPr>
              <a:t>第四部分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A93711-3529-44E1-A626-0589C64D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6B7E1D-559C-4CDA-B811-08D76046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95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D5D224-6CB2-4E4B-8C10-75413007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29768"/>
            <a:ext cx="647700" cy="18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7E457F-611B-4E7F-AE91-BB00E19B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865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672E45-988C-42F5-A59D-030DCB8C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2"/>
          </a:solidFill>
          <a:ln xmlns:a="http://schemas.openxmlformats.org/drawingml/2006/main" w="9525">
            <a:solidFill>
              <a:srgbClr val="C9D7E2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6098C9-1BF7-472E-923A-2D4E4D5E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98A"/>
                </a:solidFill>
                <a:latin typeface="Microsoft YaHei"/>
                <a:ea typeface="Microsoft YaHei"/>
                <a:cs typeface="Microsoft YaHei"/>
              </a:rPr>
              <a:t>学术论文汇报模板｜请替换题目、数据与来源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B729E1-0980-4142-B4E3-AE4387B5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80D02C-B0B9-4691-B784-504B28D2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理论贡献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479E06-6CE5-432D-B6CB-F6CD34B6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CB810D-C919-4286-9960-52BA9244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240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说明研究如何修正、拓展或连接既有理论。避免只说“丰富了相关研究”。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9CC120-7EF0-45AD-9562-B7C4E2E8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方法贡献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0BBF1B-104A-45D7-9AA8-956FBA27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0DBC70-7488-4D79-864A-D2382FDF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240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强调数据、测量或识别策略带来的新增证据。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652343-A065-40B6-9ADD-5092A342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研究局限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DA5324-C126-4E49-96FD-05158BDB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DF8FBE-3974-4B8B-BF1D-2F8DC027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明确样本、测量、识别与外推限制，并说明其可能影响。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0D893D-DDAC-4FE9-866A-ECB264D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后续研究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5C601D-10D8-4CE3-BD79-C223C3A1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7C5"/>
          </a:solidFill>
          <a:ln xmlns:a="http://schemas.openxmlformats.org/drawingml/2006/main" w="9525">
            <a:solidFill>
              <a:srgbClr val="0097C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E2408A-88DB-4A6D-9F43-AF88F1DA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535"/>
                </a:solidFill>
                <a:latin typeface="Microsoft YaHei"/>
                <a:ea typeface="Microsoft YaHei"/>
                <a:cs typeface="Microsoft YaHei"/>
              </a:rPr>
              <a:t>提出与局限直接对应、能够被执行和检验的研究方向。</a:t>
            </a:r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3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/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/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7C78E-D8B4-46F2-8CC9-034D0EC4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7"/>
          </a:solidFill>
          <a:ln xmlns:a="http://schemas.openxmlformats.org/drawingml/2006/main" w="9525">
            <a:solidFill>
              <a:srgbClr val="123F6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C3DA0-9BCD-46DE-AFA1-FDC041C7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AD8"/>
          </a:solidFill>
          <a:ln xmlns:a="http://schemas.openxmlformats.org/drawingml/2006/main" w="9525">
            <a:solidFill>
              <a:srgbClr val="B8CA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43949-6F5C-49BE-962B-4F981A82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XX大学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632AF-0E4A-4866-B137-5AA7BB82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7625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AF422-4BCE-4CBB-9D55-C468D0D6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35330"/>
            <a:ext cx="7620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B8F34-2642-4085-B55C-B9473F6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谢谢聆听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46641-2FE1-4D65-A809-FDF13C28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623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7EEF4"/>
                </a:solidFill>
                <a:latin typeface="Microsoft YaHei"/>
                <a:ea typeface="Microsoft YaHei"/>
                <a:cs typeface="Microsoft YaHei"/>
              </a:rPr>
              <a:t>敬请批评指正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553BB-9FEE-47FA-AB91-05409F0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52625"/>
            <a:ext cx="2286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A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8B4DD-297D-40CC-B8D3-9C445A7B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098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校徽 / 学院标识</a:t>
            </a:r>
          </a:p>
          <a:p xmlns:a="http://schemas.openxmlformats.org/drawingml/2006/main">
            <a:pPr algn="ctr">
              <a:defRPr sz="15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F67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5F1CE-2241-41F0-828F-D30BDECF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汇报人：姓名｜邮箱：name@university.edu.cn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2026-09-14T06:36:00.5440000Z</dcterms:created>
  <dcterms:modified xsi:type="dcterms:W3CDTF">2026-09-14T06:36:00.5450000Z</dcterms:modified>
</coreProperties>
</file>